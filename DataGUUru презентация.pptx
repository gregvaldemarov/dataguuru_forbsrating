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57" r:id="rId4"/>
    <p:sldId id="258" r:id="rId5"/>
    <p:sldId id="261" r:id="rId6"/>
    <p:sldId id="268" r:id="rId7"/>
    <p:sldId id="263" r:id="rId8"/>
    <p:sldId id="262" r:id="rId9"/>
    <p:sldId id="264" r:id="rId10"/>
    <p:sldId id="269" r:id="rId11"/>
    <p:sldId id="270" r:id="rId12"/>
    <p:sldId id="265" r:id="rId13"/>
    <p:sldId id="266" r:id="rId14"/>
    <p:sldId id="267" r:id="rId15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617"/>
    <a:srgbClr val="FFB393"/>
    <a:srgbClr val="FFDBCD"/>
    <a:srgbClr val="990033"/>
    <a:srgbClr val="F6D3B6"/>
    <a:srgbClr val="660033"/>
  </p:clrMru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946" y="-163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2643B-020B-40DF-A798-2EF9B8A3FB02}" type="datetimeFigureOut">
              <a:rPr lang="ru-RU" smtClean="0"/>
              <a:pPr/>
              <a:t>18.04.2026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42E478-B7A5-4201-A0ED-D34D3BB8F5A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18.04.2026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18.04.2026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51920" y="1008151"/>
            <a:ext cx="4778424" cy="1347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800" b="1" dirty="0">
                <a:solidFill>
                  <a:srgbClr val="F4CAB8"/>
                </a:solidFill>
                <a:latin typeface="Brygada 1918 Bold"/>
                <a:ea typeface="Brygada 1918 Bold"/>
              </a:rPr>
              <a:t>Кейс «Профилирование российских университетов по открытым данным»</a:t>
            </a:r>
          </a:p>
        </p:txBody>
      </p:sp>
      <p:sp>
        <p:nvSpPr>
          <p:cNvPr id="4" name="Text 1"/>
          <p:cNvSpPr/>
          <p:nvPr/>
        </p:nvSpPr>
        <p:spPr>
          <a:xfrm>
            <a:off x="3851920" y="2355726"/>
            <a:ext cx="4778424" cy="428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56"/>
              </a:lnSpc>
            </a:pPr>
            <a:endParaRPr lang="en-US" sz="1000" dirty="0">
              <a:solidFill>
                <a:srgbClr val="F4CAB8"/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3851920" y="2939059"/>
            <a:ext cx="1309762" cy="251519"/>
          </a:xfrm>
          <a:prstGeom prst="roundRect">
            <a:avLst>
              <a:gd name="adj" fmla="val 6384"/>
            </a:avLst>
          </a:prstGeom>
          <a:solidFill>
            <a:srgbClr val="4D1700"/>
          </a:solidFill>
          <a:ln/>
        </p:spPr>
      </p:sp>
      <p:sp>
        <p:nvSpPr>
          <p:cNvPr id="6" name="Text 3"/>
          <p:cNvSpPr/>
          <p:nvPr/>
        </p:nvSpPr>
        <p:spPr>
          <a:xfrm>
            <a:off x="3932140" y="2979167"/>
            <a:ext cx="1149325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1344"/>
              </a:lnSpc>
            </a:pPr>
            <a:r>
              <a:rPr lang="en-US" sz="1200" dirty="0" smtClean="0">
                <a:solidFill>
                  <a:srgbClr val="FFB393"/>
                </a:solidFill>
                <a:latin typeface="Candara Light" pitchFamily="34" charset="0"/>
              </a:rPr>
              <a:t>DataGUUru</a:t>
            </a:r>
            <a:endParaRPr lang="en-US" sz="1200" dirty="0">
              <a:solidFill>
                <a:srgbClr val="FFB393"/>
              </a:solidFill>
              <a:latin typeface="Candara Light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228582" y="2934295"/>
            <a:ext cx="1581671" cy="261044"/>
          </a:xfrm>
          <a:prstGeom prst="roundRect">
            <a:avLst>
              <a:gd name="adj" fmla="val 6151"/>
            </a:avLst>
          </a:prstGeom>
          <a:noFill/>
          <a:ln w="7620">
            <a:solidFill>
              <a:srgbClr val="FFB3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13563" y="2979167"/>
            <a:ext cx="1411709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44"/>
              </a:lnSpc>
            </a:pPr>
            <a:r>
              <a:rPr lang="en-US" sz="800" dirty="0" smtClean="0">
                <a:solidFill>
                  <a:srgbClr val="FFB39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100 </a:t>
            </a:r>
            <a:r>
              <a:rPr lang="en-US" sz="800" dirty="0">
                <a:solidFill>
                  <a:srgbClr val="FFB393"/>
                </a:solidFill>
                <a:latin typeface="Montserrat Medium"/>
                <a:ea typeface="Montserrat Medium"/>
                <a:cs typeface="Montserrat Medium" pitchFamily="34" charset="-120"/>
              </a:rPr>
              <a:t>ВЕДУЩИХ</a:t>
            </a:r>
            <a:r>
              <a:rPr lang="en-US" sz="800" dirty="0">
                <a:solidFill>
                  <a:srgbClr val="FFB39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ВУЗОВ РФ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851920" y="3262239"/>
            <a:ext cx="2168798" cy="261044"/>
          </a:xfrm>
          <a:prstGeom prst="roundRect">
            <a:avLst>
              <a:gd name="adj" fmla="val 6151"/>
            </a:avLst>
          </a:prstGeom>
          <a:noFill/>
          <a:ln w="7620">
            <a:solidFill>
              <a:srgbClr val="FFB3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36901" y="3307110"/>
            <a:ext cx="1998836" cy="171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344"/>
              </a:lnSpc>
            </a:pPr>
            <a:r>
              <a:rPr lang="en-US" sz="800" dirty="0">
                <a:solidFill>
                  <a:srgbClr val="FFB393"/>
                </a:solidFill>
                <a:latin typeface="Montserrat Medium"/>
                <a:ea typeface="Montserrat Medium"/>
                <a:cs typeface="Montserrat Medium" pitchFamily="34" charset="-120"/>
              </a:rPr>
              <a:t>МОНИТОРИНГ</a:t>
            </a:r>
            <a:r>
              <a:rPr lang="en-US" sz="800" dirty="0">
                <a:solidFill>
                  <a:srgbClr val="FFB39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КАЧЕСТВА ПРИЁМА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851920" y="3673822"/>
            <a:ext cx="4778424" cy="428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56"/>
              </a:lnSpc>
            </a:pPr>
            <a:r>
              <a:rPr lang="en-US" sz="1400" dirty="0">
                <a:solidFill>
                  <a:srgbClr val="F4CAB8"/>
                </a:solidFill>
                <a:latin typeface="Candara Light" pitchFamily="34" charset="0"/>
                <a:ea typeface="Montserrat Medium"/>
                <a:cs typeface="Calibri Light" pitchFamily="34" charset="0"/>
              </a:rPr>
              <a:t>Аналитика на основе данных </a:t>
            </a:r>
            <a:r>
              <a:rPr lang="en-US" sz="1400" dirty="0" smtClean="0">
                <a:solidFill>
                  <a:srgbClr val="F4CAB8"/>
                </a:solidFill>
                <a:latin typeface="Candara Light" pitchFamily="34" charset="0"/>
                <a:ea typeface="Montserrat Medium"/>
                <a:cs typeface="Calibri Light" pitchFamily="34" charset="0"/>
              </a:rPr>
              <a:t>Forbes</a:t>
            </a:r>
            <a:endParaRPr lang="en-US" sz="1400" dirty="0">
              <a:latin typeface="Candara Light" pitchFamily="34" charset="0"/>
              <a:ea typeface="Montserrat Medium"/>
              <a:cs typeface="Calibri Light" pitchFamily="34" charset="0"/>
            </a:endParaRPr>
          </a:p>
        </p:txBody>
      </p:sp>
      <p:pic>
        <p:nvPicPr>
          <p:cNvPr id="24578" name="Picture 2" descr="Picture background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1275606"/>
            <a:ext cx="2427734" cy="24277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1600" y="411510"/>
            <a:ext cx="5535067" cy="327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63"/>
              </a:lnSpc>
            </a:pPr>
            <a:r>
              <a:rPr lang="ru-RU" sz="2100" b="1" dirty="0" smtClean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Подготовка входных данных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979712" y="987574"/>
            <a:ext cx="6768752" cy="576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2000" dirty="0" smtClean="0">
                <a:solidFill>
                  <a:srgbClr val="FFB393"/>
                </a:solidFill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Выделение признаков объекта из исходной таблицы данных</a:t>
            </a:r>
            <a:endParaRPr lang="en-US" sz="2000" dirty="0">
              <a:solidFill>
                <a:srgbClr val="FFB393"/>
              </a:solidFill>
              <a:latin typeface="Candara Light" pitchFamily="34" charset="0"/>
              <a:ea typeface="Calibri Light" pitchFamily="34" charset="0"/>
              <a:cs typeface="Calibri Light" pitchFamily="34" charset="0"/>
            </a:endParaRPr>
          </a:p>
        </p:txBody>
      </p:sp>
      <p:pic>
        <p:nvPicPr>
          <p:cNvPr id="2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1635646"/>
            <a:ext cx="8331814" cy="30243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1520" y="195486"/>
            <a:ext cx="5755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438"/>
              </a:lnSpc>
            </a:pPr>
            <a:r>
              <a:rPr lang="ru-RU" sz="2400" b="1" dirty="0" smtClean="0">
                <a:solidFill>
                  <a:srgbClr val="F4CAB8"/>
                </a:solidFill>
                <a:latin typeface="Bahnschrift" pitchFamily="34" charset="0"/>
                <a:ea typeface="Brygada 1918 Bold"/>
                <a:cs typeface="Montserrat Black" pitchFamily="34" charset="-120"/>
              </a:rPr>
              <a:t>Исходные данные и проблемы данных</a:t>
            </a:r>
            <a:endParaRPr lang="en-US" sz="2400" dirty="0">
              <a:solidFill>
                <a:srgbClr val="F4CAB8"/>
              </a:solidFill>
              <a:latin typeface="Brygada 1918 Bold"/>
              <a:ea typeface="Brygada 1918 Bold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96580" y="1148284"/>
            <a:ext cx="5017294" cy="832396"/>
          </a:xfrm>
          <a:prstGeom prst="roundRect">
            <a:avLst>
              <a:gd name="adj" fmla="val 8239"/>
            </a:avLst>
          </a:prstGeom>
          <a:solidFill>
            <a:srgbClr val="F8ECE4"/>
          </a:solidFill>
          <a:ln/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95536" y="1131590"/>
            <a:ext cx="5017294" cy="5715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5" name="Shape 3"/>
          <p:cNvSpPr/>
          <p:nvPr/>
        </p:nvSpPr>
        <p:spPr>
          <a:xfrm>
            <a:off x="2754685" y="996381"/>
            <a:ext cx="298996" cy="298996"/>
          </a:xfrm>
          <a:prstGeom prst="roundRect">
            <a:avLst>
              <a:gd name="adj" fmla="val 191140"/>
            </a:avLst>
          </a:prstGeom>
          <a:solidFill>
            <a:schemeClr val="bg1"/>
          </a:solidFill>
          <a:ln/>
        </p:spPr>
      </p:sp>
      <p:sp>
        <p:nvSpPr>
          <p:cNvPr id="6" name="Text 4"/>
          <p:cNvSpPr/>
          <p:nvPr/>
        </p:nvSpPr>
        <p:spPr>
          <a:xfrm>
            <a:off x="2844357" y="1071093"/>
            <a:ext cx="119583" cy="14949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1281"/>
              </a:lnSpc>
            </a:pPr>
            <a:r>
              <a:rPr lang="en-US" sz="900" b="1" dirty="0">
                <a:solidFill>
                  <a:srgbClr val="66003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900" dirty="0">
              <a:solidFill>
                <a:srgbClr val="660033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509465" y="1592735"/>
            <a:ext cx="4789438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063"/>
              </a:lnSpc>
            </a:pP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95536" y="2370014"/>
            <a:ext cx="5040560" cy="1209848"/>
          </a:xfrm>
          <a:prstGeom prst="roundRect">
            <a:avLst>
              <a:gd name="adj" fmla="val 9845"/>
            </a:avLst>
          </a:prstGeom>
          <a:solidFill>
            <a:srgbClr val="F8ECE4"/>
          </a:solidFill>
          <a:ln/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95536" y="2355726"/>
            <a:ext cx="5040560" cy="81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11" name="Shape 9"/>
          <p:cNvSpPr/>
          <p:nvPr/>
        </p:nvSpPr>
        <p:spPr>
          <a:xfrm>
            <a:off x="2754685" y="2220517"/>
            <a:ext cx="300382" cy="279226"/>
          </a:xfrm>
          <a:prstGeom prst="roundRect">
            <a:avLst>
              <a:gd name="adj" fmla="val 191140"/>
            </a:avLst>
          </a:prstGeom>
          <a:solidFill>
            <a:schemeClr val="bg1"/>
          </a:solidFill>
          <a:ln/>
        </p:spPr>
      </p:sp>
      <p:sp>
        <p:nvSpPr>
          <p:cNvPr id="12" name="Text 10"/>
          <p:cNvSpPr/>
          <p:nvPr/>
        </p:nvSpPr>
        <p:spPr>
          <a:xfrm>
            <a:off x="2843808" y="2283718"/>
            <a:ext cx="120138" cy="213289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1281"/>
              </a:lnSpc>
            </a:pPr>
            <a:r>
              <a:rPr lang="en-US" sz="900" b="1" dirty="0">
                <a:solidFill>
                  <a:srgbClr val="66003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900" dirty="0">
              <a:solidFill>
                <a:srgbClr val="660033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539552" y="2499742"/>
            <a:ext cx="4824536" cy="10081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ru-RU" sz="1200" b="1" dirty="0" smtClean="0">
                <a:solidFill>
                  <a:srgbClr val="151617"/>
                </a:solidFill>
                <a:ea typeface="Inconsolata" pitchFamily="34" charset="-122"/>
              </a:rPr>
              <a:t>Проблема:</a:t>
            </a:r>
            <a:r>
              <a:rPr lang="ru-RU" sz="1200" dirty="0" smtClean="0">
                <a:solidFill>
                  <a:srgbClr val="151617"/>
                </a:solidFill>
                <a:ea typeface="Inconsolata" pitchFamily="34" charset="-122"/>
              </a:rPr>
              <a:t> пустые столбцы, в каждый год разные</a:t>
            </a:r>
            <a:endParaRPr lang="en-US" sz="1200" i="1" dirty="0" smtClean="0">
              <a:solidFill>
                <a:srgbClr val="151617"/>
              </a:solidFill>
              <a:ea typeface="Inconsolata" pitchFamily="34" charset="-122"/>
            </a:endParaRPr>
          </a:p>
          <a:p>
            <a:pPr algn="r"/>
            <a:r>
              <a:rPr lang="ru-RU" sz="1200" i="1" dirty="0" smtClean="0">
                <a:solidFill>
                  <a:srgbClr val="151617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При проведении исследования невозможно использовать </a:t>
            </a:r>
          </a:p>
          <a:p>
            <a:pPr algn="r"/>
            <a:r>
              <a:rPr lang="ru-RU" sz="1200" i="1" dirty="0" smtClean="0">
                <a:solidFill>
                  <a:srgbClr val="151617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одинаковые факторы</a:t>
            </a:r>
            <a:endParaRPr lang="en-US" sz="1200" b="1" dirty="0" smtClean="0">
              <a:solidFill>
                <a:srgbClr val="151617"/>
              </a:solidFill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  <a:p>
            <a:r>
              <a:rPr lang="ru-RU" sz="1200" b="1" dirty="0" smtClean="0">
                <a:solidFill>
                  <a:srgbClr val="151617"/>
                </a:solidFill>
                <a:ea typeface="Inconsolata" pitchFamily="34" charset="-122"/>
              </a:rPr>
              <a:t>Решение: </a:t>
            </a:r>
            <a:r>
              <a:rPr lang="ru-RU" sz="1200" i="1" dirty="0" smtClean="0">
                <a:solidFill>
                  <a:srgbClr val="151617"/>
                </a:solidFill>
                <a:ea typeface="Inconsolata" pitchFamily="34" charset="-122"/>
              </a:rPr>
              <a:t>после проведения факторного анализа, была проведено </a:t>
            </a:r>
          </a:p>
          <a:p>
            <a:r>
              <a:rPr lang="ru-RU" sz="1200" i="1" dirty="0" smtClean="0">
                <a:solidFill>
                  <a:srgbClr val="151617"/>
                </a:solidFill>
                <a:ea typeface="Inconsolata" pitchFamily="34" charset="-122"/>
              </a:rPr>
              <a:t>дополнение таблиц данными</a:t>
            </a:r>
            <a:endParaRPr lang="en-US" sz="1200" i="1" dirty="0"/>
          </a:p>
        </p:txBody>
      </p:sp>
      <p:sp>
        <p:nvSpPr>
          <p:cNvPr id="15" name="Shape 13"/>
          <p:cNvSpPr/>
          <p:nvPr/>
        </p:nvSpPr>
        <p:spPr>
          <a:xfrm>
            <a:off x="395536" y="4011910"/>
            <a:ext cx="4968552" cy="936104"/>
          </a:xfrm>
          <a:prstGeom prst="roundRect">
            <a:avLst>
              <a:gd name="adj" fmla="val 9845"/>
            </a:avLst>
          </a:prstGeom>
          <a:solidFill>
            <a:srgbClr val="F8ECE4"/>
          </a:solidFill>
          <a:ln/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5536" y="3997622"/>
            <a:ext cx="4968552" cy="768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/>
        </p:spPr>
      </p:sp>
      <p:sp>
        <p:nvSpPr>
          <p:cNvPr id="17" name="Shape 15"/>
          <p:cNvSpPr/>
          <p:nvPr/>
        </p:nvSpPr>
        <p:spPr>
          <a:xfrm>
            <a:off x="2754685" y="3862411"/>
            <a:ext cx="296091" cy="293515"/>
          </a:xfrm>
          <a:prstGeom prst="roundRect">
            <a:avLst>
              <a:gd name="adj" fmla="val 191140"/>
            </a:avLst>
          </a:prstGeom>
          <a:solidFill>
            <a:schemeClr val="bg1"/>
          </a:solidFill>
          <a:ln/>
        </p:spPr>
      </p:sp>
      <p:sp>
        <p:nvSpPr>
          <p:cNvPr id="18" name="Text 16"/>
          <p:cNvSpPr/>
          <p:nvPr/>
        </p:nvSpPr>
        <p:spPr>
          <a:xfrm>
            <a:off x="2844357" y="3937123"/>
            <a:ext cx="118421" cy="200901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1281"/>
              </a:lnSpc>
            </a:pPr>
            <a:r>
              <a:rPr lang="en-US" sz="900" b="1" dirty="0">
                <a:solidFill>
                  <a:srgbClr val="660033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900" dirty="0">
              <a:solidFill>
                <a:srgbClr val="660033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539552" y="4227934"/>
            <a:ext cx="4742910" cy="597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1200" b="1" dirty="0" smtClean="0">
                <a:solidFill>
                  <a:srgbClr val="151617"/>
                </a:solidFill>
                <a:ea typeface="Inconsolata" pitchFamily="34" charset="-122"/>
              </a:rPr>
              <a:t>Проблема: </a:t>
            </a:r>
            <a:r>
              <a:rPr lang="ru-RU" sz="1200" dirty="0" smtClean="0">
                <a:solidFill>
                  <a:srgbClr val="151617"/>
                </a:solidFill>
                <a:ea typeface="Inconsolata" pitchFamily="34" charset="-122"/>
              </a:rPr>
              <a:t>неверные типы данных</a:t>
            </a:r>
          </a:p>
          <a:p>
            <a:pPr>
              <a:lnSpc>
                <a:spcPct val="150000"/>
              </a:lnSpc>
            </a:pPr>
            <a:r>
              <a:rPr lang="ru-RU" sz="1200" b="1" dirty="0" smtClean="0">
                <a:solidFill>
                  <a:srgbClr val="151617"/>
                </a:solidFill>
                <a:ea typeface="Inconsolata" pitchFamily="34" charset="-122"/>
              </a:rPr>
              <a:t>Решение: </a:t>
            </a:r>
            <a:r>
              <a:rPr lang="ru-RU" sz="1200" i="1" dirty="0" smtClean="0">
                <a:solidFill>
                  <a:srgbClr val="151617"/>
                </a:solidFill>
                <a:ea typeface="Inconsolata" pitchFamily="34" charset="-122"/>
              </a:rPr>
              <a:t>приведение данных к верному типу</a:t>
            </a:r>
            <a:endParaRPr lang="en-US" sz="1200" i="1" dirty="0"/>
          </a:p>
        </p:txBody>
      </p:sp>
      <p:sp>
        <p:nvSpPr>
          <p:cNvPr id="27" name="Text 12"/>
          <p:cNvSpPr/>
          <p:nvPr/>
        </p:nvSpPr>
        <p:spPr>
          <a:xfrm>
            <a:off x="468588" y="1508324"/>
            <a:ext cx="4789438" cy="279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63"/>
              </a:lnSpc>
            </a:pPr>
            <a:endParaRPr lang="en-US" sz="800" dirty="0"/>
          </a:p>
        </p:txBody>
      </p:sp>
      <p:sp>
        <p:nvSpPr>
          <p:cNvPr id="28" name="Shape 3"/>
          <p:cNvSpPr/>
          <p:nvPr/>
        </p:nvSpPr>
        <p:spPr>
          <a:xfrm>
            <a:off x="6012160" y="843558"/>
            <a:ext cx="2952328" cy="3816424"/>
          </a:xfrm>
          <a:prstGeom prst="roundRect">
            <a:avLst>
              <a:gd name="adj" fmla="val 11483"/>
            </a:avLst>
          </a:prstGeom>
          <a:solidFill>
            <a:srgbClr val="5C2438"/>
          </a:solidFill>
          <a:ln w="22860">
            <a:solidFill>
              <a:srgbClr val="662E42"/>
            </a:solidFill>
            <a:prstDash val="solid"/>
          </a:ln>
        </p:spPr>
      </p:sp>
      <p:sp>
        <p:nvSpPr>
          <p:cNvPr id="29" name="TextBox 28"/>
          <p:cNvSpPr txBox="1"/>
          <p:nvPr/>
        </p:nvSpPr>
        <p:spPr>
          <a:xfrm>
            <a:off x="6156176" y="1059582"/>
            <a:ext cx="2592288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000" b="1" dirty="0" smtClean="0">
                <a:solidFill>
                  <a:srgbClr val="FFDBCD"/>
                </a:solidFill>
                <a:latin typeface="Candara Light" pitchFamily="34" charset="0"/>
              </a:rPr>
              <a:t>15227 строк</a:t>
            </a:r>
          </a:p>
          <a:p>
            <a:pPr algn="ctr">
              <a:lnSpc>
                <a:spcPct val="150000"/>
              </a:lnSpc>
            </a:pPr>
            <a:endParaRPr lang="ru-RU" sz="2000" b="1" dirty="0" smtClean="0">
              <a:solidFill>
                <a:srgbClr val="FFDBCD"/>
              </a:solidFill>
              <a:latin typeface="Candara Light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ru-RU" sz="2000" b="1" dirty="0" smtClean="0">
                <a:solidFill>
                  <a:srgbClr val="FFDBCD"/>
                </a:solidFill>
                <a:latin typeface="Candara Light" pitchFamily="34" charset="0"/>
              </a:rPr>
              <a:t>153 колонки</a:t>
            </a:r>
          </a:p>
          <a:p>
            <a:pPr algn="ctr">
              <a:lnSpc>
                <a:spcPct val="150000"/>
              </a:lnSpc>
            </a:pPr>
            <a:endParaRPr lang="ru-RU" sz="2000" b="1" dirty="0" smtClean="0">
              <a:solidFill>
                <a:srgbClr val="FFDBCD"/>
              </a:solidFill>
              <a:latin typeface="Candara Light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ru-RU" sz="2000" b="1" dirty="0" smtClean="0">
                <a:solidFill>
                  <a:srgbClr val="FFDBCD"/>
                </a:solidFill>
                <a:latin typeface="Candara Light" pitchFamily="34" charset="0"/>
              </a:rPr>
              <a:t>2378 ВУЗов</a:t>
            </a:r>
          </a:p>
          <a:p>
            <a:pPr algn="ctr">
              <a:lnSpc>
                <a:spcPct val="150000"/>
              </a:lnSpc>
            </a:pPr>
            <a:endParaRPr lang="ru-RU" sz="2000" b="1" dirty="0" smtClean="0">
              <a:solidFill>
                <a:srgbClr val="FFDBCD"/>
              </a:solidFill>
              <a:latin typeface="Candara Light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ru-RU" sz="2000" b="1" dirty="0" smtClean="0">
                <a:solidFill>
                  <a:srgbClr val="FFDBCD"/>
                </a:solidFill>
                <a:latin typeface="Candara Light" pitchFamily="34" charset="0"/>
              </a:rPr>
              <a:t>2025 год</a:t>
            </a:r>
          </a:p>
          <a:p>
            <a:endParaRPr lang="ru-RU" sz="2000" dirty="0"/>
          </a:p>
        </p:txBody>
      </p:sp>
      <p:sp>
        <p:nvSpPr>
          <p:cNvPr id="30" name="TextBox 29"/>
          <p:cNvSpPr txBox="1"/>
          <p:nvPr/>
        </p:nvSpPr>
        <p:spPr>
          <a:xfrm>
            <a:off x="468588" y="1203598"/>
            <a:ext cx="4896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sz="1200" b="1" dirty="0" smtClean="0"/>
              <a:t>Проблема:</a:t>
            </a:r>
            <a:r>
              <a:rPr lang="ru-RU" sz="1200" dirty="0" smtClean="0"/>
              <a:t> наличие миссинговых значений(отмеченных с знаком «?»</a:t>
            </a:r>
          </a:p>
          <a:p>
            <a:pPr>
              <a:lnSpc>
                <a:spcPct val="150000"/>
              </a:lnSpc>
            </a:pPr>
            <a:r>
              <a:rPr lang="ru-RU" sz="1200" b="1" dirty="0" smtClean="0"/>
              <a:t>Решение:</a:t>
            </a:r>
            <a:r>
              <a:rPr lang="ru-RU" sz="1200" dirty="0" smtClean="0"/>
              <a:t> </a:t>
            </a:r>
            <a:r>
              <a:rPr lang="ru-RU" sz="1200" i="1" dirty="0" smtClean="0"/>
              <a:t>ручная коррекция + ИИ</a:t>
            </a:r>
            <a:endParaRPr lang="ru-RU" sz="1200" i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1563638"/>
            <a:ext cx="538818" cy="504056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5628" y="288877"/>
            <a:ext cx="6340227" cy="327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63"/>
              </a:lnSpc>
            </a:pPr>
            <a:r>
              <a:rPr lang="en-US" sz="21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Интерактивный </a:t>
            </a:r>
            <a:r>
              <a:rPr lang="en-US" sz="2100" b="1" dirty="0">
                <a:solidFill>
                  <a:srgbClr val="F4CAB8"/>
                </a:solidFill>
                <a:latin typeface="Brygada 1918 Bold"/>
                <a:ea typeface="Brygada 1918 Bold"/>
                <a:cs typeface="Brygada 1918 Bold" pitchFamily="34" charset="-120"/>
              </a:rPr>
              <a:t>дашборд</a:t>
            </a:r>
            <a:r>
              <a:rPr lang="en-US" sz="21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: </a:t>
            </a:r>
            <a:r>
              <a:rPr lang="en-US" sz="2100" b="1" dirty="0" smtClean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1</a:t>
            </a:r>
            <a:r>
              <a:rPr lang="ru-RU" sz="2100" b="1" dirty="0" smtClean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0</a:t>
            </a:r>
            <a:r>
              <a:rPr lang="en-US" sz="2100" b="1" dirty="0" smtClean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0 </a:t>
            </a:r>
            <a:r>
              <a:rPr lang="en-US" sz="2100" b="1" dirty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ведущих вузов РФ</a:t>
            </a:r>
            <a:endParaRPr lang="en-US" sz="2100" dirty="0">
              <a:solidFill>
                <a:srgbClr val="F4CAB8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79513" y="771550"/>
            <a:ext cx="6768752" cy="144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63"/>
              </a:lnSpc>
            </a:pPr>
            <a:r>
              <a:rPr lang="ru-RU" sz="1200" dirty="0" smtClean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Интерактивная панель демонстрирует информацию </a:t>
            </a:r>
            <a:r>
              <a:rPr lang="en-US" sz="1200" dirty="0" err="1" smtClean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по</a:t>
            </a:r>
            <a:r>
              <a:rPr lang="en-US" sz="1200" dirty="0" smtClean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 </a:t>
            </a:r>
            <a:r>
              <a:rPr lang="en-US" sz="1200" dirty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каждому вузу с фильтрацией </a:t>
            </a:r>
            <a:r>
              <a:rPr lang="en-US" sz="1200" dirty="0" err="1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по</a:t>
            </a:r>
            <a:r>
              <a:rPr lang="en-US" sz="1200" dirty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 </a:t>
            </a:r>
            <a:r>
              <a:rPr lang="en-US" sz="1200" dirty="0" smtClean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р</a:t>
            </a:r>
            <a:r>
              <a:rPr lang="ru-RU" sz="1200" dirty="0" err="1" smtClean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ангу</a:t>
            </a:r>
            <a:r>
              <a:rPr lang="ru-RU" sz="1200" dirty="0" smtClean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 и баллу</a:t>
            </a:r>
            <a:r>
              <a:rPr lang="en-US" sz="1200" dirty="0" smtClean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.</a:t>
            </a:r>
            <a:endParaRPr lang="en-US" sz="1200" dirty="0"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6144815" y="2367358"/>
            <a:ext cx="2873806" cy="597248"/>
          </a:xfrm>
          <a:prstGeom prst="roundRect">
            <a:avLst>
              <a:gd name="adj" fmla="val 11483"/>
            </a:avLst>
          </a:prstGeom>
          <a:solidFill>
            <a:srgbClr val="5C2438"/>
          </a:solidFill>
          <a:ln w="22860">
            <a:solidFill>
              <a:srgbClr val="662E42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141960" y="2367358"/>
            <a:ext cx="45719" cy="597248"/>
          </a:xfrm>
          <a:prstGeom prst="roundRect">
            <a:avLst>
              <a:gd name="adj" fmla="val 25793"/>
            </a:avLst>
          </a:prstGeom>
          <a:solidFill>
            <a:srgbClr val="FFB393"/>
          </a:solidFill>
          <a:ln/>
        </p:spPr>
      </p:sp>
      <p:sp>
        <p:nvSpPr>
          <p:cNvPr id="9" name="Text 5"/>
          <p:cNvSpPr/>
          <p:nvPr/>
        </p:nvSpPr>
        <p:spPr>
          <a:xfrm>
            <a:off x="6300194" y="2479873"/>
            <a:ext cx="749333" cy="163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81"/>
              </a:lnSpc>
            </a:pPr>
            <a:r>
              <a:rPr lang="ru-RU" sz="1100" b="1" dirty="0" smtClean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Файл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300192" y="2715766"/>
            <a:ext cx="1846458" cy="136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 defTabSz="914400" eaLnBrk="0" fontAlgn="base" hangingPunct="0">
              <a:spcBef>
                <a:spcPct val="0"/>
              </a:spcBef>
            </a:pPr>
            <a:r>
              <a:rPr lang="en-US" sz="1000" dirty="0" err="1" smtClean="0">
                <a:solidFill>
                  <a:srgbClr val="F4CAB8"/>
                </a:solidFill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forbs+.csv</a:t>
            </a:r>
            <a:r>
              <a:rPr lang="ru-RU" sz="1000" dirty="0" smtClean="0">
                <a:solidFill>
                  <a:srgbClr val="F4CAB8"/>
                </a:solidFill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 (100 строк, 4 поля)</a:t>
            </a:r>
            <a:endParaRPr kumimoji="0" lang="ru-RU" sz="1000" b="1" i="0" u="none" strike="noStrike" cap="none" normalizeH="0" baseline="0" dirty="0" smtClean="0">
              <a:ln>
                <a:noFill/>
              </a:ln>
              <a:solidFill>
                <a:srgbClr val="F4CAB8"/>
              </a:solidFill>
              <a:effectLst/>
              <a:latin typeface="Candara Light" pitchFamily="34" charset="0"/>
              <a:ea typeface="Calibri Light" pitchFamily="34" charset="0"/>
              <a:cs typeface="Calibri Light" pitchFamily="34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159105" y="3228891"/>
            <a:ext cx="2873805" cy="597248"/>
          </a:xfrm>
          <a:prstGeom prst="roundRect">
            <a:avLst>
              <a:gd name="adj" fmla="val 11483"/>
            </a:avLst>
          </a:prstGeom>
          <a:solidFill>
            <a:srgbClr val="5C2438"/>
          </a:solidFill>
          <a:ln w="22860">
            <a:solidFill>
              <a:srgbClr val="662E4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144815" y="3228891"/>
            <a:ext cx="57150" cy="597248"/>
          </a:xfrm>
          <a:prstGeom prst="roundRect">
            <a:avLst>
              <a:gd name="adj" fmla="val 25793"/>
            </a:avLst>
          </a:prstGeom>
          <a:solidFill>
            <a:srgbClr val="FFB393"/>
          </a:solidFill>
          <a:ln/>
        </p:spPr>
      </p:sp>
      <p:sp>
        <p:nvSpPr>
          <p:cNvPr id="13" name="Text 9"/>
          <p:cNvSpPr/>
          <p:nvPr/>
        </p:nvSpPr>
        <p:spPr>
          <a:xfrm>
            <a:off x="6300192" y="3291830"/>
            <a:ext cx="1310208" cy="163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81"/>
              </a:lnSpc>
            </a:pPr>
            <a:r>
              <a:rPr lang="ru-RU" sz="1100" b="1" dirty="0" smtClean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Поля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41960" y="4078286"/>
            <a:ext cx="2873805" cy="597248"/>
          </a:xfrm>
          <a:prstGeom prst="roundRect">
            <a:avLst>
              <a:gd name="adj" fmla="val 11483"/>
            </a:avLst>
          </a:prstGeom>
          <a:solidFill>
            <a:srgbClr val="5C2438"/>
          </a:solidFill>
          <a:ln w="22860">
            <a:solidFill>
              <a:srgbClr val="662E4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27670" y="4078286"/>
            <a:ext cx="57150" cy="597248"/>
          </a:xfrm>
          <a:prstGeom prst="roundRect">
            <a:avLst>
              <a:gd name="adj" fmla="val 25793"/>
            </a:avLst>
          </a:prstGeom>
          <a:solidFill>
            <a:srgbClr val="FFB393"/>
          </a:solidFill>
          <a:ln/>
        </p:spPr>
      </p:sp>
      <p:sp>
        <p:nvSpPr>
          <p:cNvPr id="17" name="Text 13"/>
          <p:cNvSpPr/>
          <p:nvPr/>
        </p:nvSpPr>
        <p:spPr>
          <a:xfrm>
            <a:off x="6297334" y="4190800"/>
            <a:ext cx="1310208" cy="1637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281"/>
              </a:lnSpc>
            </a:pPr>
            <a:r>
              <a:rPr lang="ru-RU" sz="1100" b="1" dirty="0" smtClean="0">
                <a:solidFill>
                  <a:srgbClr val="F4CAB8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Источник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300194" y="4424089"/>
            <a:ext cx="1500805" cy="17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63"/>
              </a:lnSpc>
            </a:pPr>
            <a:r>
              <a:rPr lang="en-US" sz="1200" dirty="0" smtClean="0">
                <a:solidFill>
                  <a:srgbClr val="F4CAB8"/>
                </a:solidFill>
                <a:latin typeface="Candara Light" pitchFamily="34" charset="0"/>
                <a:ea typeface="Montserrat Medium" pitchFamily="34" charset="-122"/>
                <a:cs typeface="Montserrat Medium" pitchFamily="34" charset="-120"/>
              </a:rPr>
              <a:t>Forbes</a:t>
            </a:r>
            <a:endParaRPr lang="en-US" sz="1200" dirty="0">
              <a:latin typeface="Candara Light" pitchFamily="34" charset="0"/>
            </a:endParaRPr>
          </a:p>
        </p:txBody>
      </p:sp>
      <p:pic>
        <p:nvPicPr>
          <p:cNvPr id="21" name="Рисунок 20" descr="Снимок экрана 2026-04-17 230904.png"/>
          <p:cNvPicPr>
            <a:picLocks noChangeAspect="1"/>
          </p:cNvPicPr>
          <p:nvPr/>
        </p:nvPicPr>
        <p:blipFill>
          <a:blip r:embed="rId3" cstate="print"/>
          <a:srcRect t="11352"/>
          <a:stretch>
            <a:fillRect/>
          </a:stretch>
        </p:blipFill>
        <p:spPr>
          <a:xfrm>
            <a:off x="141397" y="1180846"/>
            <a:ext cx="2895176" cy="1678922"/>
          </a:xfrm>
          <a:prstGeom prst="rect">
            <a:avLst/>
          </a:prstGeom>
        </p:spPr>
      </p:pic>
      <p:pic>
        <p:nvPicPr>
          <p:cNvPr id="22" name="Рисунок 21" descr="Снимок экрана 2026-04-17 231110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149032" y="1180846"/>
            <a:ext cx="2853833" cy="1678922"/>
          </a:xfrm>
          <a:prstGeom prst="rect">
            <a:avLst/>
          </a:prstGeom>
        </p:spPr>
      </p:pic>
      <p:pic>
        <p:nvPicPr>
          <p:cNvPr id="23" name="Рисунок 22" descr="Снимок экрана 2026-04-17 231202.png"/>
          <p:cNvPicPr>
            <a:picLocks noChangeAspect="1"/>
          </p:cNvPicPr>
          <p:nvPr/>
        </p:nvPicPr>
        <p:blipFill>
          <a:blip r:embed="rId5" cstate="print"/>
          <a:srcRect r="2390"/>
          <a:stretch>
            <a:fillRect/>
          </a:stretch>
        </p:blipFill>
        <p:spPr>
          <a:xfrm>
            <a:off x="141400" y="3016867"/>
            <a:ext cx="2895175" cy="1653767"/>
          </a:xfrm>
          <a:prstGeom prst="rect">
            <a:avLst/>
          </a:prstGeom>
        </p:spPr>
      </p:pic>
      <p:pic>
        <p:nvPicPr>
          <p:cNvPr id="24" name="Picture 8"/>
          <p:cNvPicPr>
            <a:picLocks noChangeAspect="1" noChangeArrowheads="1"/>
          </p:cNvPicPr>
          <p:nvPr/>
        </p:nvPicPr>
        <p:blipFill>
          <a:blip r:embed="rId6" cstate="print"/>
          <a:srcRect t="1600"/>
          <a:stretch>
            <a:fillRect/>
          </a:stretch>
        </p:blipFill>
        <p:spPr bwMode="auto">
          <a:xfrm>
            <a:off x="3191790" y="3010798"/>
            <a:ext cx="2811075" cy="16659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Text 10"/>
          <p:cNvSpPr/>
          <p:nvPr/>
        </p:nvSpPr>
        <p:spPr>
          <a:xfrm>
            <a:off x="6314480" y="3505193"/>
            <a:ext cx="2534034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lvl="1" defTabSz="914400" eaLnBrk="0" fontAlgn="base" hangingPunct="0">
              <a:spcBef>
                <a:spcPct val="0"/>
              </a:spcBef>
            </a:pPr>
            <a:r>
              <a:rPr kumimoji="0" lang="ru-RU" sz="1000" b="0" i="0" u="none" strike="noStrike" cap="none" normalizeH="0" baseline="0" dirty="0" err="1" smtClean="0">
                <a:ln>
                  <a:noFill/>
                </a:ln>
                <a:solidFill>
                  <a:srgbClr val="F4CAB8"/>
                </a:solidFill>
                <a:effectLst/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rank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F4CAB8"/>
                </a:solidFill>
                <a:effectLst/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 (ранг)</a:t>
            </a:r>
            <a:r>
              <a:rPr lang="ru-RU" sz="1000" dirty="0" smtClean="0">
                <a:solidFill>
                  <a:srgbClr val="F4CAB8"/>
                </a:solidFill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, </a:t>
            </a:r>
            <a:r>
              <a:rPr kumimoji="0" lang="ru-RU" sz="1000" b="0" i="0" u="none" strike="noStrike" cap="none" normalizeH="0" baseline="0" dirty="0" err="1" smtClean="0">
                <a:ln>
                  <a:noFill/>
                </a:ln>
                <a:solidFill>
                  <a:srgbClr val="F4CAB8"/>
                </a:solidFill>
                <a:effectLst/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university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F4CAB8"/>
                </a:solidFill>
                <a:effectLst/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 (название),</a:t>
            </a:r>
            <a:r>
              <a:rPr kumimoji="0" lang="ru-RU" sz="1000" b="0" i="0" u="none" strike="noStrike" cap="none" normalizeH="0" dirty="0" smtClean="0">
                <a:ln>
                  <a:noFill/>
                </a:ln>
                <a:solidFill>
                  <a:srgbClr val="F4CAB8"/>
                </a:solidFill>
                <a:effectLst/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 </a:t>
            </a:r>
          </a:p>
          <a:p>
            <a:pPr marL="0" lvl="1" defTabSz="914400" eaLnBrk="0" fontAlgn="base" hangingPunct="0">
              <a:spcBef>
                <a:spcPct val="0"/>
              </a:spcBef>
            </a:pPr>
            <a:r>
              <a:rPr kumimoji="0" lang="ru-RU" sz="1000" b="0" i="0" u="none" strike="noStrike" cap="none" normalizeH="0" baseline="0" dirty="0" err="1" smtClean="0">
                <a:ln>
                  <a:noFill/>
                </a:ln>
                <a:solidFill>
                  <a:srgbClr val="F4CAB8"/>
                </a:solidFill>
                <a:effectLst/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score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F4CAB8"/>
                </a:solidFill>
                <a:effectLst/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 (балл)</a:t>
            </a:r>
            <a:r>
              <a:rPr lang="ru-RU" sz="1000" dirty="0" smtClean="0">
                <a:solidFill>
                  <a:srgbClr val="F4CAB8"/>
                </a:solidFill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, </a:t>
            </a:r>
            <a:r>
              <a:rPr kumimoji="0" lang="en-US" sz="1000" b="0" i="0" u="none" strike="noStrike" cap="none" normalizeH="0" baseline="0" dirty="0" smtClean="0">
                <a:ln>
                  <a:noFill/>
                </a:ln>
                <a:solidFill>
                  <a:srgbClr val="F4CAB8"/>
                </a:solidFill>
                <a:effectLst/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I</a:t>
            </a:r>
            <a:r>
              <a:rPr kumimoji="0" lang="ru-RU" sz="1000" b="0" i="0" u="none" strike="noStrike" cap="none" normalizeH="0" baseline="0" dirty="0" err="1" smtClean="0">
                <a:ln>
                  <a:noFill/>
                </a:ln>
                <a:solidFill>
                  <a:srgbClr val="F4CAB8"/>
                </a:solidFill>
                <a:effectLst/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d</a:t>
            </a:r>
            <a:r>
              <a:rPr kumimoji="0" lang="ru-RU" sz="1000" b="0" i="0" u="none" strike="noStrike" cap="none" normalizeH="0" baseline="0" dirty="0" smtClean="0">
                <a:ln>
                  <a:noFill/>
                </a:ln>
                <a:solidFill>
                  <a:srgbClr val="F4CAB8"/>
                </a:solidFill>
                <a:effectLst/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 (</a:t>
            </a:r>
            <a:r>
              <a:rPr lang="ru-RU" sz="1000" dirty="0" smtClean="0">
                <a:solidFill>
                  <a:srgbClr val="F4CAB8"/>
                </a:solidFill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Идентификационный номер)</a:t>
            </a:r>
            <a:endParaRPr kumimoji="0" lang="ru-RU" sz="1000" b="0" i="0" u="none" strike="noStrike" cap="none" normalizeH="0" baseline="0" dirty="0" smtClean="0">
              <a:ln>
                <a:noFill/>
              </a:ln>
              <a:solidFill>
                <a:srgbClr val="F4CAB8"/>
              </a:solidFill>
              <a:effectLst/>
              <a:latin typeface="Candara Light" pitchFamily="34" charset="0"/>
              <a:ea typeface="Calibri Light" pitchFamily="34" charset="0"/>
              <a:cs typeface="Calibri Light" pitchFamily="34" charset="0"/>
            </a:endParaRPr>
          </a:p>
        </p:txBody>
      </p:sp>
      <p:pic>
        <p:nvPicPr>
          <p:cNvPr id="25" name="Рисунок 24" descr="bc9f921c722c3bd6cb0f40cf1f6385f4.pn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236296" y="699542"/>
            <a:ext cx="1440160" cy="1440160"/>
          </a:xfrm>
          <a:prstGeom prst="rect">
            <a:avLst/>
          </a:prstGeom>
        </p:spPr>
      </p:pic>
      <p:sp>
        <p:nvSpPr>
          <p:cNvPr id="26" name="Text 6"/>
          <p:cNvSpPr/>
          <p:nvPr/>
        </p:nvSpPr>
        <p:spPr>
          <a:xfrm>
            <a:off x="7236296" y="2139702"/>
            <a:ext cx="1440160" cy="144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vl="0" defTabSz="914400" eaLnBrk="0" fontAlgn="base" hangingPunct="0">
              <a:spcBef>
                <a:spcPct val="0"/>
              </a:spcBef>
            </a:pPr>
            <a:r>
              <a:rPr lang="ru-RU" sz="1050" dirty="0" smtClean="0">
                <a:solidFill>
                  <a:srgbClr val="F4CAB8"/>
                </a:solidFill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* </a:t>
            </a:r>
            <a:r>
              <a:rPr lang="en-US" sz="1050" dirty="0" smtClean="0">
                <a:solidFill>
                  <a:srgbClr val="F4CAB8"/>
                </a:solidFill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QR-</a:t>
            </a:r>
            <a:r>
              <a:rPr lang="ru-RU" sz="1050" dirty="0" smtClean="0">
                <a:solidFill>
                  <a:srgbClr val="F4CAB8"/>
                </a:solidFill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код дашборда</a:t>
            </a:r>
            <a:endParaRPr kumimoji="0" lang="ru-RU" sz="1050" b="1" i="0" u="none" strike="noStrike" cap="none" normalizeH="0" baseline="0" dirty="0" smtClean="0">
              <a:ln>
                <a:noFill/>
              </a:ln>
              <a:solidFill>
                <a:srgbClr val="F4CAB8"/>
              </a:solidFill>
              <a:effectLst/>
              <a:latin typeface="Candara Light" pitchFamily="34" charset="0"/>
              <a:ea typeface="Calibri Light" pitchFamily="34" charset="0"/>
              <a:cs typeface="Calibri Light" pitchFamily="34" charset="0"/>
            </a:endParaRPr>
          </a:p>
        </p:txBody>
      </p:sp>
      <p:pic>
        <p:nvPicPr>
          <p:cNvPr id="22532" name="Picture 4" descr="Picture background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308304" y="4515966"/>
            <a:ext cx="1728192" cy="47234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9512" y="195486"/>
            <a:ext cx="8856984" cy="3995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63"/>
              </a:lnSpc>
            </a:pP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Факторный анализ: </a:t>
            </a:r>
            <a:r>
              <a:rPr lang="en-US" sz="2800" b="1" dirty="0" err="1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снижение</a:t>
            </a: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 </a:t>
            </a:r>
            <a:r>
              <a:rPr lang="en-US" sz="2800" b="1" dirty="0" err="1" smtClean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размерности</a:t>
            </a:r>
            <a:endParaRPr lang="en-US" sz="2800" dirty="0"/>
          </a:p>
        </p:txBody>
      </p:sp>
      <p:sp>
        <p:nvSpPr>
          <p:cNvPr id="17" name="Text 6"/>
          <p:cNvSpPr/>
          <p:nvPr/>
        </p:nvSpPr>
        <p:spPr>
          <a:xfrm>
            <a:off x="467543" y="762868"/>
            <a:ext cx="196528" cy="12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63"/>
              </a:lnSpc>
            </a:pPr>
            <a:r>
              <a:rPr lang="en-US" sz="80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01</a:t>
            </a:r>
            <a:endParaRPr lang="en-US" sz="800" dirty="0"/>
          </a:p>
        </p:txBody>
      </p:sp>
      <p:sp>
        <p:nvSpPr>
          <p:cNvPr id="18" name="Shape 7"/>
          <p:cNvSpPr/>
          <p:nvPr/>
        </p:nvSpPr>
        <p:spPr>
          <a:xfrm>
            <a:off x="467544" y="915566"/>
            <a:ext cx="2362796" cy="14288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19" name="Text 9"/>
          <p:cNvSpPr/>
          <p:nvPr/>
        </p:nvSpPr>
        <p:spPr>
          <a:xfrm>
            <a:off x="467544" y="1770980"/>
            <a:ext cx="196528" cy="12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63"/>
              </a:lnSpc>
            </a:pPr>
            <a:r>
              <a:rPr lang="en-US" sz="80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Shape 10"/>
          <p:cNvSpPr/>
          <p:nvPr/>
        </p:nvSpPr>
        <p:spPr>
          <a:xfrm>
            <a:off x="467544" y="1923678"/>
            <a:ext cx="2362796" cy="14288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22" name="Text 12"/>
          <p:cNvSpPr/>
          <p:nvPr/>
        </p:nvSpPr>
        <p:spPr>
          <a:xfrm>
            <a:off x="467543" y="2923108"/>
            <a:ext cx="196528" cy="12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63"/>
              </a:lnSpc>
            </a:pPr>
            <a:r>
              <a:rPr lang="en-US" sz="800" dirty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03</a:t>
            </a:r>
            <a:endParaRPr lang="en-US" sz="800" dirty="0"/>
          </a:p>
        </p:txBody>
      </p:sp>
      <p:sp>
        <p:nvSpPr>
          <p:cNvPr id="23" name="Shape 13"/>
          <p:cNvSpPr/>
          <p:nvPr/>
        </p:nvSpPr>
        <p:spPr>
          <a:xfrm>
            <a:off x="467544" y="3075806"/>
            <a:ext cx="2362870" cy="14288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32" name="Text 12"/>
          <p:cNvSpPr/>
          <p:nvPr/>
        </p:nvSpPr>
        <p:spPr>
          <a:xfrm>
            <a:off x="467543" y="4075236"/>
            <a:ext cx="196528" cy="1227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063"/>
              </a:lnSpc>
            </a:pPr>
            <a:r>
              <a:rPr lang="en-US" sz="800" dirty="0" smtClean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0</a:t>
            </a:r>
            <a:r>
              <a:rPr lang="ru-RU" sz="800" dirty="0" smtClean="0">
                <a:solidFill>
                  <a:srgbClr val="F4CAB8"/>
                </a:solidFill>
                <a:latin typeface="Brygada 1918 Light" pitchFamily="34" charset="0"/>
                <a:ea typeface="Brygada 1918 Light" pitchFamily="34" charset="-122"/>
                <a:cs typeface="Brygada 1918 Light" pitchFamily="34" charset="-120"/>
              </a:rPr>
              <a:t>4</a:t>
            </a:r>
          </a:p>
        </p:txBody>
      </p:sp>
      <p:sp>
        <p:nvSpPr>
          <p:cNvPr id="33" name="Shape 13"/>
          <p:cNvSpPr/>
          <p:nvPr/>
        </p:nvSpPr>
        <p:spPr>
          <a:xfrm>
            <a:off x="467544" y="4227934"/>
            <a:ext cx="2362870" cy="14288"/>
          </a:xfrm>
          <a:prstGeom prst="rect">
            <a:avLst/>
          </a:prstGeom>
          <a:solidFill>
            <a:srgbClr val="FFB393"/>
          </a:solidFill>
          <a:ln/>
        </p:spPr>
      </p:sp>
      <p:sp>
        <p:nvSpPr>
          <p:cNvPr id="36" name="Прямоугольник 35"/>
          <p:cNvSpPr/>
          <p:nvPr/>
        </p:nvSpPr>
        <p:spPr>
          <a:xfrm>
            <a:off x="467544" y="987574"/>
            <a:ext cx="237626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>
                <a:solidFill>
                  <a:srgbClr val="FFB3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Масштаб и ресурсная мощность университета</a:t>
            </a:r>
            <a:endParaRPr lang="ru-RU" sz="1400" b="1" dirty="0">
              <a:solidFill>
                <a:srgbClr val="FFB39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 Light" pitchFamily="34" charset="0"/>
              <a:ea typeface="Calibri Light" pitchFamily="34" charset="0"/>
              <a:cs typeface="Calibri Light" pitchFamily="34" charset="0"/>
            </a:endParaRPr>
          </a:p>
        </p:txBody>
      </p:sp>
      <p:sp>
        <p:nvSpPr>
          <p:cNvPr id="37" name="Прямоугольник 36"/>
          <p:cNvSpPr/>
          <p:nvPr/>
        </p:nvSpPr>
        <p:spPr>
          <a:xfrm>
            <a:off x="467544" y="1995686"/>
            <a:ext cx="24482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>
                <a:solidFill>
                  <a:srgbClr val="FFB3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 Light" pitchFamily="34" charset="0"/>
                <a:ea typeface="Calibri Light" pitchFamily="34" charset="0"/>
                <a:cs typeface="Calibri Light" pitchFamily="34" charset="0"/>
              </a:rPr>
              <a:t>Качество приема и академическая селективность</a:t>
            </a:r>
            <a:endParaRPr lang="ru-RU" sz="1400" b="1" dirty="0">
              <a:solidFill>
                <a:srgbClr val="FFB39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 Light" pitchFamily="34" charset="0"/>
              <a:ea typeface="Calibri Light" pitchFamily="34" charset="0"/>
              <a:cs typeface="Calibri Light" pitchFamily="34" charset="0"/>
            </a:endParaRPr>
          </a:p>
        </p:txBody>
      </p:sp>
      <p:sp>
        <p:nvSpPr>
          <p:cNvPr id="38" name="Прямоугольник 37"/>
          <p:cNvSpPr/>
          <p:nvPr/>
        </p:nvSpPr>
        <p:spPr>
          <a:xfrm>
            <a:off x="467544" y="3147814"/>
            <a:ext cx="237626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>
                <a:solidFill>
                  <a:srgbClr val="FFB3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 Light" pitchFamily="34" charset="0"/>
              </a:rPr>
              <a:t>Международная интеграция и глобальная привлекательность</a:t>
            </a:r>
            <a:endParaRPr lang="ru-RU" sz="1400" b="1" dirty="0">
              <a:solidFill>
                <a:srgbClr val="FFB39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 Light" pitchFamily="34" charset="0"/>
            </a:endParaRPr>
          </a:p>
        </p:txBody>
      </p:sp>
      <p:sp>
        <p:nvSpPr>
          <p:cNvPr id="39" name="Прямоугольник 38"/>
          <p:cNvSpPr/>
          <p:nvPr/>
        </p:nvSpPr>
        <p:spPr>
          <a:xfrm>
            <a:off x="467544" y="4299942"/>
            <a:ext cx="24482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 smtClean="0">
                <a:solidFill>
                  <a:srgbClr val="FFB39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 Light" pitchFamily="34" charset="0"/>
              </a:rPr>
              <a:t>Инфраструктура и обеспеченность</a:t>
            </a:r>
            <a:endParaRPr lang="ru-RU" sz="1400" b="1" dirty="0">
              <a:solidFill>
                <a:srgbClr val="FFB39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 Light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47864" y="771550"/>
            <a:ext cx="5623757" cy="1800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944" y="2715766"/>
            <a:ext cx="4207772" cy="23042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43" name="Прямая соединительная линия 42"/>
          <p:cNvCxnSpPr/>
          <p:nvPr/>
        </p:nvCxnSpPr>
        <p:spPr>
          <a:xfrm flipV="1">
            <a:off x="4788024" y="2859782"/>
            <a:ext cx="0" cy="1944216"/>
          </a:xfrm>
          <a:prstGeom prst="line">
            <a:avLst/>
          </a:prstGeom>
          <a:ln w="19050">
            <a:solidFill>
              <a:srgbClr val="9900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7544" y="267494"/>
            <a:ext cx="5535067" cy="327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563"/>
              </a:lnSpc>
            </a:pPr>
            <a:r>
              <a:rPr lang="ru-RU" sz="2800" b="1" dirty="0" smtClean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Предобработка данных для </a:t>
            </a:r>
            <a:r>
              <a:rPr lang="en-US" sz="2800" b="1" dirty="0" smtClean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ML-</a:t>
            </a:r>
            <a:r>
              <a:rPr lang="ru-RU" sz="2800" b="1" dirty="0" smtClean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моделей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467544" y="699542"/>
            <a:ext cx="7632848" cy="72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ru-RU" sz="1600" b="1" dirty="0" smtClean="0">
                <a:solidFill>
                  <a:srgbClr val="F4CAB8"/>
                </a:solidFill>
                <a:latin typeface="Candara Light" pitchFamily="34" charset="0"/>
                <a:ea typeface="Montserrat Medium" pitchFamily="34" charset="-122"/>
                <a:cs typeface="Montserrat Medium" pitchFamily="34" charset="-120"/>
              </a:rPr>
              <a:t>Моделирование значений переменной </a:t>
            </a:r>
            <a:r>
              <a:rPr lang="en-US" sz="1600" b="1" dirty="0" smtClean="0">
                <a:solidFill>
                  <a:srgbClr val="F4CAB8"/>
                </a:solidFill>
                <a:latin typeface="Candara Light" pitchFamily="34" charset="0"/>
                <a:ea typeface="Montserrat Medium" pitchFamily="34" charset="-122"/>
                <a:cs typeface="Montserrat Medium" pitchFamily="34" charset="-120"/>
              </a:rPr>
              <a:t>score </a:t>
            </a:r>
            <a:r>
              <a:rPr lang="ru-RU" sz="1600" b="1" dirty="0" smtClean="0">
                <a:solidFill>
                  <a:srgbClr val="F4CAB8"/>
                </a:solidFill>
                <a:latin typeface="Candara Light" pitchFamily="34" charset="0"/>
                <a:ea typeface="Montserrat Medium" pitchFamily="34" charset="-122"/>
                <a:cs typeface="Montserrat Medium" pitchFamily="34" charset="-120"/>
              </a:rPr>
              <a:t>для ВУЗов которые не попали в топ-100</a:t>
            </a:r>
          </a:p>
          <a:p>
            <a:pPr>
              <a:lnSpc>
                <a:spcPct val="150000"/>
              </a:lnSpc>
            </a:pPr>
            <a:r>
              <a:rPr lang="ru-RU" sz="1600" b="1" dirty="0" smtClean="0">
                <a:solidFill>
                  <a:srgbClr val="F4CAB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 Light" pitchFamily="34" charset="0"/>
                <a:ea typeface="Montserrat Medium" pitchFamily="34" charset="-122"/>
              </a:rPr>
              <a:t>Цель: </a:t>
            </a:r>
            <a:r>
              <a:rPr lang="ru-RU" sz="1600" b="1" dirty="0" smtClean="0">
                <a:solidFill>
                  <a:srgbClr val="F4CAB8"/>
                </a:solidFill>
                <a:latin typeface="Candara Light" pitchFamily="34" charset="0"/>
                <a:ea typeface="Montserrat Medium" pitchFamily="34" charset="-122"/>
              </a:rPr>
              <a:t>подготовить данные для </a:t>
            </a:r>
            <a:r>
              <a:rPr lang="en-US" sz="1600" b="1" dirty="0" smtClean="0">
                <a:solidFill>
                  <a:srgbClr val="F4CAB8"/>
                </a:solidFill>
                <a:latin typeface="Candara Light" pitchFamily="34" charset="0"/>
                <a:ea typeface="Montserrat Medium" pitchFamily="34" charset="-122"/>
              </a:rPr>
              <a:t>ML-</a:t>
            </a:r>
            <a:r>
              <a:rPr lang="ru-RU" sz="1600" b="1" dirty="0" smtClean="0">
                <a:solidFill>
                  <a:srgbClr val="F4CAB8"/>
                </a:solidFill>
                <a:latin typeface="Candara Light" pitchFamily="34" charset="0"/>
                <a:ea typeface="Montserrat Medium" pitchFamily="34" charset="-122"/>
              </a:rPr>
              <a:t>модели</a:t>
            </a:r>
          </a:p>
        </p:txBody>
      </p:sp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201109"/>
            <a:ext cx="9144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536" y="2859782"/>
            <a:ext cx="2073830" cy="864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" name="Прямоугольник 28"/>
          <p:cNvSpPr/>
          <p:nvPr/>
        </p:nvSpPr>
        <p:spPr>
          <a:xfrm>
            <a:off x="251520" y="2355726"/>
            <a:ext cx="27210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solidFill>
                  <a:srgbClr val="F4CAB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 Light" pitchFamily="34" charset="0"/>
                <a:ea typeface="Brygada 1918 Bold"/>
              </a:rPr>
              <a:t>Метод:</a:t>
            </a:r>
            <a:r>
              <a:rPr lang="ru-RU" b="1" dirty="0" smtClean="0">
                <a:solidFill>
                  <a:srgbClr val="F4CAB8"/>
                </a:solidFill>
                <a:latin typeface="Candara Light" pitchFamily="34" charset="0"/>
                <a:ea typeface="Brygada 1918 Bold"/>
              </a:rPr>
              <a:t> функция свертки </a:t>
            </a:r>
            <a:endParaRPr lang="en-US" b="1" dirty="0">
              <a:latin typeface="Candara Light" pitchFamily="34" charset="0"/>
              <a:ea typeface="Brygada 1918 Bold"/>
            </a:endParaRPr>
          </a:p>
        </p:txBody>
      </p:sp>
      <p:graphicFrame>
        <p:nvGraphicFramePr>
          <p:cNvPr id="30" name="Таблица 29"/>
          <p:cNvGraphicFramePr>
            <a:graphicFrameLocks noGrp="1"/>
          </p:cNvGraphicFramePr>
          <p:nvPr/>
        </p:nvGraphicFramePr>
        <p:xfrm>
          <a:off x="3059832" y="1491630"/>
          <a:ext cx="5832648" cy="3427809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1944216"/>
                <a:gridCol w="1008113"/>
                <a:gridCol w="2880319"/>
              </a:tblGrid>
              <a:tr h="27422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kern="100" dirty="0" smtClean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Фактор</a:t>
                      </a:r>
                      <a:r>
                        <a:rPr lang="en-US" sz="1000" b="1" kern="100" baseline="0" dirty="0" smtClean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 X</a:t>
                      </a:r>
                      <a:r>
                        <a:rPr lang="en-US" sz="800" b="1" kern="100" baseline="0" dirty="0" smtClean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i</a:t>
                      </a:r>
                      <a:endParaRPr lang="ru-RU" sz="900" b="1" kern="100" dirty="0"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6965" marR="56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kern="100" dirty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Вес </a:t>
                      </a:r>
                      <a:r>
                        <a:rPr lang="ru-RU" sz="1000" b="1" kern="100" dirty="0" smtClean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фактора </a:t>
                      </a:r>
                      <a:r>
                        <a:rPr lang="en-US" sz="1000" b="1" kern="100" dirty="0" err="1" smtClean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W</a:t>
                      </a:r>
                      <a:r>
                        <a:rPr lang="en-US" sz="800" b="1" kern="100" dirty="0" err="1" smtClean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i</a:t>
                      </a:r>
                      <a:endParaRPr lang="ru-RU" sz="900" b="1" kern="100" dirty="0"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6965" marR="56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b="1" kern="100" dirty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Перечень переменных в исходных данных</a:t>
                      </a:r>
                      <a:endParaRPr lang="ru-RU" sz="900" b="1" kern="100" dirty="0"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6965" marR="56965" marT="0" marB="0" anchor="ctr"/>
                </a:tc>
              </a:tr>
              <a:tr h="685562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kern="100" dirty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Качество приема и академическая селективность</a:t>
                      </a:r>
                      <a:endParaRPr lang="ru-RU" sz="900" kern="100" dirty="0"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6965" marR="56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</a:t>
                      </a:r>
                      <a:r>
                        <a:rPr lang="ru-RU" sz="1000" kern="100" dirty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35</a:t>
                      </a:r>
                      <a:endParaRPr lang="ru-RU" sz="900" kern="100" dirty="0"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6965" marR="56965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kern="100" dirty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средний ЕГЭ, минимальный ЕГЭ, победители всероссийской олимпиады, призёры олимпиад школьников</a:t>
                      </a:r>
                      <a:endParaRPr lang="ru-RU" sz="900" kern="100" dirty="0"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6965" marR="56965" marT="0" marB="0" anchor="ctr"/>
                </a:tc>
              </a:tr>
              <a:tr h="82267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kern="100" dirty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Масштаб и ресурсная мощность университета</a:t>
                      </a:r>
                      <a:endParaRPr lang="ru-RU" sz="900" kern="100" dirty="0"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6965" marR="56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</a:t>
                      </a:r>
                      <a:r>
                        <a:rPr lang="ru-RU" sz="1000" kern="100" dirty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30</a:t>
                      </a:r>
                      <a:endParaRPr lang="ru-RU" sz="900" kern="100" dirty="0"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6965" marR="56965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kern="100" dirty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ЕГЭ </a:t>
                      </a:r>
                      <a:r>
                        <a:rPr lang="ru-RU" sz="1000" kern="100" dirty="0" err="1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платников</a:t>
                      </a:r>
                      <a:r>
                        <a:rPr lang="ru-RU" sz="1000" kern="100" dirty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, трудоустройство выпускников, доля внебюджетных доходов, доходы на студента, число предприятий‑партнёров</a:t>
                      </a:r>
                      <a:endParaRPr lang="ru-RU" sz="900" kern="100" dirty="0"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6965" marR="56965" marT="0" marB="0" anchor="ctr"/>
                </a:tc>
              </a:tr>
              <a:tr h="82267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kern="10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Международная интеграция и глобальная привлекательность</a:t>
                      </a:r>
                      <a:endParaRPr lang="ru-RU" sz="900" kern="100"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6965" marR="56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 dirty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</a:t>
                      </a:r>
                      <a:r>
                        <a:rPr lang="ru-RU" sz="1000" kern="100" dirty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20</a:t>
                      </a:r>
                      <a:endParaRPr lang="ru-RU" sz="900" kern="100" dirty="0"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6965" marR="56965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kern="100" dirty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иностранные студенты, иностранные НПР, публикации </a:t>
                      </a:r>
                      <a:r>
                        <a:rPr lang="ru-RU" sz="1000" kern="100" dirty="0" err="1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Scopus</a:t>
                      </a:r>
                      <a:r>
                        <a:rPr lang="ru-RU" sz="1000" kern="100" dirty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/</a:t>
                      </a:r>
                      <a:r>
                        <a:rPr lang="ru-RU" sz="1000" kern="100" dirty="0" err="1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WoS</a:t>
                      </a:r>
                      <a:r>
                        <a:rPr lang="ru-RU" sz="1000" kern="100" dirty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, цитирования, совместные статьи, доходы НИОКР из‑за рубежа</a:t>
                      </a:r>
                      <a:endParaRPr lang="ru-RU" sz="900" kern="100" dirty="0"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6965" marR="56965" marT="0" marB="0" anchor="ctr"/>
                </a:tc>
              </a:tr>
              <a:tr h="822674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kern="10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Инфраструктура и обеспеченность</a:t>
                      </a:r>
                      <a:endParaRPr lang="ru-RU" sz="900" kern="100"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6965" marR="56965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000" kern="10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</a:t>
                      </a:r>
                      <a:r>
                        <a:rPr lang="ru-RU" sz="1000" kern="10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1</a:t>
                      </a:r>
                      <a:r>
                        <a:rPr lang="en-US" sz="1000" kern="10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5</a:t>
                      </a:r>
                      <a:endParaRPr lang="ru-RU" sz="900" kern="100"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6965" marR="56965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000" kern="100" dirty="0"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зарплата ППС и отношение к региону, доли докторов и кандидатов, аспиранты/магистры, площади и ПК на студента, НИОКР и гранты на НПР</a:t>
                      </a:r>
                      <a:endParaRPr lang="ru-RU" sz="900" kern="100" dirty="0"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6965" marR="56965" marT="0" marB="0" anchor="ctr"/>
                </a:tc>
              </a:tr>
            </a:tbl>
          </a:graphicData>
        </a:graphic>
      </p:graphicFrame>
      <p:pic>
        <p:nvPicPr>
          <p:cNvPr id="31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14488" y="3547655"/>
            <a:ext cx="384870" cy="360040"/>
          </a:xfrm>
          <a:prstGeom prst="round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528" y="195486"/>
            <a:ext cx="5544616" cy="376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38"/>
              </a:lnSpc>
            </a:pP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Сравнительный </a:t>
            </a:r>
            <a:r>
              <a:rPr lang="en-US" sz="2800" b="1" dirty="0" err="1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анализ</a:t>
            </a: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 </a:t>
            </a:r>
            <a:r>
              <a:rPr lang="en-US" sz="2800" b="1" dirty="0" smtClean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ML-</a:t>
            </a:r>
            <a:r>
              <a:rPr lang="en-US" sz="2800" b="1" dirty="0" err="1" smtClean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моделей</a:t>
            </a:r>
            <a:endParaRPr lang="en-US" sz="2800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539552" y="987574"/>
            <a:ext cx="6408712" cy="34778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ru-RU" sz="2000" b="1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СВОДНАЯ ТАБЛИЦА СРАВНЕНИЯ МЕТОДОВ</a:t>
            </a:r>
          </a:p>
          <a:p>
            <a:endParaRPr lang="en-US" sz="2000" dirty="0" smtClean="0">
              <a:solidFill>
                <a:srgbClr val="FFB393"/>
              </a:solidFill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  <a:p>
            <a:r>
              <a:rPr lang="en-US" sz="2000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 </a:t>
            </a:r>
            <a:r>
              <a:rPr lang="en-US" sz="2000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        </a:t>
            </a:r>
            <a:r>
              <a:rPr lang="ru-RU" sz="2000" b="1" i="1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Модель  </a:t>
            </a:r>
            <a:r>
              <a:rPr lang="en-US" sz="2000" b="1" i="1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           R2 </a:t>
            </a:r>
            <a:r>
              <a:rPr lang="en-US" sz="2000" b="1" i="1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(</a:t>
            </a:r>
            <a:r>
              <a:rPr lang="ru-RU" sz="2000" b="1" i="1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Точность)  </a:t>
            </a:r>
            <a:r>
              <a:rPr lang="en-US" sz="2000" b="1" i="1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        MAE </a:t>
            </a:r>
            <a:r>
              <a:rPr lang="en-US" sz="2000" b="1" i="1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(</a:t>
            </a:r>
            <a:r>
              <a:rPr lang="ru-RU" sz="2000" b="1" i="1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Ошибка)</a:t>
            </a:r>
          </a:p>
          <a:p>
            <a:pPr>
              <a:lnSpc>
                <a:spcPct val="200000"/>
              </a:lnSpc>
            </a:pPr>
            <a:r>
              <a:rPr lang="en-US" sz="2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Calibri Light" pitchFamily="34" charset="0"/>
                <a:cs typeface="Calibri Light" pitchFamily="34" charset="0"/>
              </a:rPr>
              <a:t>Gradient </a:t>
            </a:r>
            <a:r>
              <a:rPr lang="en-US" sz="2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Calibri Light" pitchFamily="34" charset="0"/>
                <a:cs typeface="Calibri Light" pitchFamily="34" charset="0"/>
              </a:rPr>
              <a:t>Boosting         0.8422        </a:t>
            </a:r>
            <a:r>
              <a:rPr lang="en-US" sz="20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Calibri Light" pitchFamily="34" charset="0"/>
                <a:cs typeface="Calibri Light" pitchFamily="34" charset="0"/>
              </a:rPr>
              <a:t>              0.4394</a:t>
            </a:r>
            <a:endParaRPr lang="en-US" sz="20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+mj-lt"/>
              <a:ea typeface="Calibri Light" pitchFamily="34" charset="0"/>
              <a:cs typeface="Calibri Light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000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Random </a:t>
            </a:r>
            <a:r>
              <a:rPr lang="en-US" sz="2000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Forest         </a:t>
            </a:r>
            <a:r>
              <a:rPr lang="en-US" sz="2000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     0.8149                      </a:t>
            </a:r>
            <a:r>
              <a:rPr lang="en-US" sz="2000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0.4476</a:t>
            </a:r>
          </a:p>
          <a:p>
            <a:pPr>
              <a:lnSpc>
                <a:spcPct val="200000"/>
              </a:lnSpc>
            </a:pPr>
            <a:r>
              <a:rPr lang="en-US" sz="2000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Ridge Regression </a:t>
            </a:r>
            <a:r>
              <a:rPr lang="en-US" sz="2000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          0.5790                      0.9726</a:t>
            </a:r>
          </a:p>
          <a:p>
            <a:r>
              <a:rPr lang="en-US" sz="2000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(</a:t>
            </a:r>
            <a:r>
              <a:rPr lang="en-US" sz="2000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Optimized</a:t>
            </a:r>
            <a:r>
              <a:rPr lang="en-US" sz="2000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)</a:t>
            </a:r>
            <a:endParaRPr lang="en-US" sz="2000" dirty="0" smtClean="0">
              <a:solidFill>
                <a:srgbClr val="FFB393"/>
              </a:solidFill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  <a:p>
            <a:endParaRPr lang="en-US" sz="2000" dirty="0" smtClean="0">
              <a:solidFill>
                <a:srgbClr val="FFB393"/>
              </a:solidFill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</p:txBody>
      </p:sp>
      <p:sp>
        <p:nvSpPr>
          <p:cNvPr id="23" name="Скругленный прямоугольник 22"/>
          <p:cNvSpPr/>
          <p:nvPr/>
        </p:nvSpPr>
        <p:spPr>
          <a:xfrm>
            <a:off x="395536" y="915566"/>
            <a:ext cx="6264696" cy="3744416"/>
          </a:xfrm>
          <a:prstGeom prst="round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395536" y="1491630"/>
            <a:ext cx="62646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>
            <a:off x="395536" y="4155926"/>
            <a:ext cx="62646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>
            <a:off x="2627784" y="1491630"/>
            <a:ext cx="0" cy="266429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>
            <a:off x="4499992" y="1491630"/>
            <a:ext cx="0" cy="2664296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/>
          <p:cNvCxnSpPr/>
          <p:nvPr/>
        </p:nvCxnSpPr>
        <p:spPr>
          <a:xfrm>
            <a:off x="395536" y="1995686"/>
            <a:ext cx="626469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Прямоугольник 32"/>
          <p:cNvSpPr/>
          <p:nvPr/>
        </p:nvSpPr>
        <p:spPr>
          <a:xfrm>
            <a:off x="6804248" y="1419622"/>
            <a:ext cx="226774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ИТОГОВАЯ ЛУЧШАЯ МОДЕЛЬ: </a:t>
            </a:r>
            <a:endParaRPr lang="en-US" sz="2000" dirty="0" smtClean="0">
              <a:solidFill>
                <a:srgbClr val="FFB393"/>
              </a:solidFill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  <a:p>
            <a:r>
              <a:rPr lang="en-US" sz="2000" b="1" dirty="0" smtClean="0">
                <a:solidFill>
                  <a:srgbClr val="FFB393"/>
                </a:solidFill>
                <a:latin typeface="Montserrat Medium"/>
                <a:ea typeface="Calibri Light" pitchFamily="34" charset="0"/>
                <a:cs typeface="Calibri Light" pitchFamily="34" charset="0"/>
              </a:rPr>
              <a:t>Gradient Boosting </a:t>
            </a:r>
            <a:r>
              <a:rPr lang="ru-RU" sz="2000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позволит спрогнозировать </a:t>
            </a:r>
            <a:r>
              <a:rPr lang="en-US" sz="2000" dirty="0" smtClean="0">
                <a:solidFill>
                  <a:srgbClr val="FFB393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score</a:t>
            </a:r>
            <a:endParaRPr lang="ru-RU" sz="2000" dirty="0">
              <a:solidFill>
                <a:srgbClr val="FFB393"/>
              </a:solidFill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9512" y="195486"/>
            <a:ext cx="4326954" cy="2230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50"/>
              </a:lnSpc>
            </a:pPr>
            <a:r>
              <a:rPr lang="en-US" sz="2800" b="1" dirty="0" err="1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Регрессионный</a:t>
            </a: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 </a:t>
            </a:r>
            <a:r>
              <a:rPr lang="en-US" sz="2800" b="1" dirty="0" err="1" smtClean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анализ</a:t>
            </a:r>
            <a:r>
              <a:rPr lang="ru-RU" sz="2800" b="1" dirty="0" smtClean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 для прогнозирования</a:t>
            </a:r>
            <a:endParaRPr lang="en-US" sz="2800" dirty="0"/>
          </a:p>
        </p:txBody>
      </p:sp>
      <p:graphicFrame>
        <p:nvGraphicFramePr>
          <p:cNvPr id="18" name="Таблица 17"/>
          <p:cNvGraphicFramePr>
            <a:graphicFrameLocks noGrp="1"/>
          </p:cNvGraphicFramePr>
          <p:nvPr/>
        </p:nvGraphicFramePr>
        <p:xfrm>
          <a:off x="179512" y="555526"/>
          <a:ext cx="6048673" cy="4397922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5376599"/>
                <a:gridCol w="672074"/>
              </a:tblGrid>
              <a:tr h="160644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b="1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Фактор</a:t>
                      </a:r>
                      <a:endParaRPr lang="ru-RU" sz="900" b="1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b="1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Коэффициент</a:t>
                      </a:r>
                      <a:endParaRPr lang="ru-RU" sz="900" b="1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</a:tr>
              <a:tr h="160644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Свобондый член</a:t>
                      </a:r>
                      <a:endParaRPr lang="ru-RU" sz="900" b="0" i="0" u="none" strike="noStrike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22,80</a:t>
                      </a:r>
                      <a:endParaRPr lang="ru-RU" sz="900" b="0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</a:tr>
              <a:tr h="467542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Численность студентов, победителей и призеров олимпиад школьников, принятых на очную форму обучения на первый курс по программам </a:t>
                      </a:r>
                      <a:r>
                        <a:rPr lang="ru-RU" sz="900" u="none" strike="noStrike" dirty="0" err="1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бакалавриата</a:t>
                      </a:r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 и </a:t>
                      </a:r>
                      <a:r>
                        <a:rPr lang="ru-RU" sz="900" u="none" strike="noStrike" dirty="0" err="1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специалитета</a:t>
                      </a:r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 по специальностям и (или) направлениям подготовки, соответствующим профилю олимпиады школьников, без вступительных испытаний</a:t>
                      </a:r>
                      <a:endParaRPr lang="ru-RU" sz="900" b="0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1,67</a:t>
                      </a:r>
                      <a:endParaRPr lang="ru-RU" sz="900" b="0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</a:tr>
              <a:tr h="160644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Общий объем средств поступивших (за отчетный год) от выполнения НИОКР выполненных собственными силами</a:t>
                      </a:r>
                      <a:endParaRPr lang="ru-RU" sz="900" b="0" i="0" u="none" strike="noStrike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0,95</a:t>
                      </a:r>
                      <a:endParaRPr lang="ru-RU" sz="900" b="0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</a:tr>
              <a:tr h="160644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Число диссертационных советов</a:t>
                      </a:r>
                      <a:endParaRPr lang="ru-RU" sz="900" b="0" i="0" u="none" strike="noStrike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0,43</a:t>
                      </a:r>
                      <a:endParaRPr lang="ru-RU" sz="900" b="0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</a:tr>
              <a:tr h="774775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Численность студентов, победителей и призеров заключительного этапа всероссийской олимпиады школьников, членов сборных команд Российской Федерации, участвовавших в международных олимпиадах по общеобразовательным предметам по специальностям и (или) направлениям подготовки, соответствующим профилю всероссийской олимпиады школьников или международной олимпиады, принятых на очную форму обучения на первый курс по программам </a:t>
                      </a:r>
                      <a:r>
                        <a:rPr lang="ru-RU" sz="900" u="none" strike="noStrike" dirty="0" err="1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бакалавриата</a:t>
                      </a:r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 и </a:t>
                      </a:r>
                      <a:r>
                        <a:rPr lang="ru-RU" sz="900" u="none" strike="noStrike" dirty="0" err="1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специалитета</a:t>
                      </a:r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 без вступительных испытаний</a:t>
                      </a:r>
                      <a:endParaRPr lang="ru-RU" sz="900" b="0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0,35</a:t>
                      </a:r>
                      <a:endParaRPr lang="ru-RU" sz="900" b="0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</a:tr>
              <a:tr h="160644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Удельный вес численности иностранных граждан из числа НПР в общей численности НПР</a:t>
                      </a:r>
                      <a:endParaRPr lang="ru-RU" sz="900" b="0" i="0" u="none" strike="noStrike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0,28</a:t>
                      </a:r>
                      <a:endParaRPr lang="ru-RU" sz="900" b="0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</a:tr>
              <a:tr h="160644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Доходы образовательной организации из средств от приносящей доход деятельности в расчете на одного НПР</a:t>
                      </a:r>
                      <a:endParaRPr lang="ru-RU" sz="900" b="0" i="0" u="none" strike="noStrike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0,27</a:t>
                      </a:r>
                      <a:endParaRPr lang="ru-RU" sz="900" b="0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</a:tr>
              <a:tr h="160644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Число статей, подготовленных совместно с зарубежными организациями</a:t>
                      </a:r>
                      <a:endParaRPr lang="ru-RU" sz="900" b="0" i="0" u="none" strike="noStrike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0,25</a:t>
                      </a:r>
                      <a:endParaRPr lang="ru-RU" sz="900" b="0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</a:tr>
              <a:tr h="313925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Численность зарубежных ведущих профессоров, преподавателей и исследователей, работающих (работавших) в образовательной организации не менее семестра</a:t>
                      </a:r>
                      <a:endParaRPr lang="ru-RU" sz="900" b="0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0,21</a:t>
                      </a:r>
                      <a:endParaRPr lang="ru-RU" sz="900" b="0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</a:tr>
              <a:tr h="160644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Общая численность научных работников (без внешних совместителей и работающих по договорам ГПХ)</a:t>
                      </a:r>
                      <a:endParaRPr lang="ru-RU" sz="900" b="0" i="0" u="none" strike="noStrike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0,12</a:t>
                      </a:r>
                      <a:endParaRPr lang="ru-RU" sz="900" b="0" i="0" u="none" strike="noStrike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</a:tr>
              <a:tr h="160644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Доходы вуза из внебюджетных источников</a:t>
                      </a:r>
                      <a:endParaRPr lang="ru-RU" sz="900" b="0" i="0" u="none" strike="noStrike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0,02</a:t>
                      </a:r>
                      <a:endParaRPr lang="ru-RU" sz="900" b="0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</a:tr>
              <a:tr h="160644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Общая численность докторантов</a:t>
                      </a:r>
                      <a:endParaRPr lang="ru-RU" sz="900" b="0" i="0" u="none" strike="noStrike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0,01</a:t>
                      </a:r>
                      <a:endParaRPr lang="ru-RU" sz="900" b="0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</a:tr>
              <a:tr h="313925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Численность студентов, принятых по результатам целевого приема на первый курс на очную форму обучения по программам бакалавриата и специалитета</a:t>
                      </a:r>
                      <a:endParaRPr lang="ru-RU" sz="900" b="0" i="0" u="none" strike="noStrike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-0,05</a:t>
                      </a:r>
                      <a:endParaRPr lang="ru-RU" sz="900" b="0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</a:tr>
              <a:tr h="313925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Удельный вес средств, полученных образовательной организацией от использования результатов интеллектуальной деятельности, в общих доходах образовательной организации</a:t>
                      </a:r>
                      <a:endParaRPr lang="ru-RU" sz="900" b="0" i="0" u="none" strike="noStrike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-0,07</a:t>
                      </a:r>
                      <a:endParaRPr lang="ru-RU" sz="900" b="0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</a:tr>
              <a:tr h="313925">
                <a:tc>
                  <a:txBody>
                    <a:bodyPr/>
                    <a:lstStyle/>
                    <a:p>
                      <a:pPr algn="l" fontAlgn="b"/>
                      <a:r>
                        <a:rPr lang="ru-RU" sz="900" u="none" strike="noStrike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Общая численность студентов, обучающихся по программам бакалавриата, специалитета, магистратуры по заочной форме обучения</a:t>
                      </a:r>
                      <a:endParaRPr lang="ru-RU" sz="900" b="0" i="0" u="none" strike="noStrike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900" u="none" strike="noStrike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-0,17</a:t>
                      </a:r>
                      <a:endParaRPr lang="ru-RU" sz="900" b="0" i="0" u="none" strike="noStrike" dirty="0">
                        <a:solidFill>
                          <a:srgbClr val="151617"/>
                        </a:solidFill>
                        <a:latin typeface="Calibri Light" pitchFamily="34" charset="0"/>
                        <a:ea typeface="Calibri Light" pitchFamily="34" charset="0"/>
                        <a:cs typeface="Calibri Light" pitchFamily="34" charset="0"/>
                      </a:endParaRPr>
                    </a:p>
                  </a:txBody>
                  <a:tcPr marL="5976" marR="5976" marT="5976" marB="0" anchor="ctr"/>
                </a:tc>
              </a:tr>
            </a:tbl>
          </a:graphicData>
        </a:graphic>
      </p:graphicFrame>
      <p:graphicFrame>
        <p:nvGraphicFramePr>
          <p:cNvPr id="19" name="Таблица 18"/>
          <p:cNvGraphicFramePr>
            <a:graphicFrameLocks noGrp="1"/>
          </p:cNvGraphicFramePr>
          <p:nvPr/>
        </p:nvGraphicFramePr>
        <p:xfrm>
          <a:off x="6372200" y="915568"/>
          <a:ext cx="2615704" cy="2956821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157479"/>
                <a:gridCol w="458225"/>
              </a:tblGrid>
              <a:tr h="340652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1" u="none" strike="noStrike" dirty="0"/>
                        <a:t>ХАРАКТЕРИСТИКИ МОДЕЛИ </a:t>
                      </a:r>
                      <a:r>
                        <a:rPr lang="en-US" sz="1100" b="1" u="none" strike="noStrike" dirty="0"/>
                        <a:t>LASSO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</a:tr>
              <a:tr h="340652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1" u="none" strike="noStrike"/>
                        <a:t>Коэффициент детерминации (</a:t>
                      </a:r>
                      <a:r>
                        <a:rPr lang="en-US" sz="1100" b="1" u="none" strike="noStrike"/>
                        <a:t>R2)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/>
                        <a:t> 0.8028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</a:tr>
              <a:tr h="340652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1" u="none" strike="noStrike"/>
                        <a:t>Средняя абсолютная ошибка (</a:t>
                      </a:r>
                      <a:r>
                        <a:rPr lang="en-US" sz="1100" b="1" u="none" strike="noStrike"/>
                        <a:t>MAE)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/>
                        <a:t> 0.5264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</a:tr>
              <a:tr h="340652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1" u="none" strike="noStrike"/>
                        <a:t>Среднеквадратичная ошибка (</a:t>
                      </a:r>
                      <a:r>
                        <a:rPr lang="en-US" sz="1100" b="1" u="none" strike="noStrike"/>
                        <a:t>RMSE)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/>
                        <a:t> 1.7833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</a:tr>
              <a:tr h="950991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1" u="none" strike="noStrike" dirty="0"/>
                        <a:t>Оптимальный параметр регуляризации (</a:t>
                      </a:r>
                      <a:r>
                        <a:rPr lang="en-US" sz="1100" b="1" u="none" strike="noStrike" dirty="0"/>
                        <a:t>Alpha)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/>
                        <a:t> 0.150315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</a:tr>
              <a:tr h="638726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1" u="none" strike="noStrike" dirty="0"/>
                        <a:t>Количество отобранных признаков</a:t>
                      </a:r>
                      <a:endParaRPr lang="ru-RU" sz="11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/>
                        <a:t> 14 из 129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7620" marR="7620" marT="7620" marB="0" anchor="b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9512" y="0"/>
            <a:ext cx="8207424" cy="891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4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Кластерный анализ: </a:t>
            </a:r>
            <a:r>
              <a:rPr lang="ru-RU" sz="2400" b="1" dirty="0" smtClean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обоснование числа кластеров</a:t>
            </a:r>
            <a:endParaRPr lang="en-US" sz="2400" dirty="0"/>
          </a:p>
        </p:txBody>
      </p:sp>
      <p:graphicFrame>
        <p:nvGraphicFramePr>
          <p:cNvPr id="17" name="Таблица 16"/>
          <p:cNvGraphicFramePr>
            <a:graphicFrameLocks noGrp="1"/>
          </p:cNvGraphicFramePr>
          <p:nvPr/>
        </p:nvGraphicFramePr>
        <p:xfrm>
          <a:off x="179512" y="627534"/>
          <a:ext cx="4680519" cy="4264747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650072"/>
                <a:gridCol w="520058"/>
                <a:gridCol w="845094"/>
                <a:gridCol w="1040115"/>
                <a:gridCol w="1625180"/>
              </a:tblGrid>
              <a:tr h="52677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b="1" kern="100" dirty="0">
                          <a:solidFill>
                            <a:srgbClr val="151617"/>
                          </a:solidFill>
                          <a:latin typeface="Candara Light" pitchFamily="34" charset="0"/>
                        </a:rPr>
                        <a:t>Год</a:t>
                      </a:r>
                      <a:endParaRPr lang="ru-RU" sz="1050" b="1" kern="100" dirty="0">
                        <a:solidFill>
                          <a:srgbClr val="151617"/>
                        </a:solidFill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58126" marR="58126" marT="58126" marB="5812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b="1" kern="100" dirty="0">
                          <a:solidFill>
                            <a:srgbClr val="151617"/>
                          </a:solidFill>
                          <a:latin typeface="Candara Light" pitchFamily="34" charset="0"/>
                        </a:rPr>
                        <a:t>Вузов</a:t>
                      </a:r>
                      <a:endParaRPr lang="ru-RU" sz="1050" b="1" kern="100" dirty="0">
                        <a:solidFill>
                          <a:srgbClr val="151617"/>
                        </a:solidFill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58126" marR="58126" marT="58126" marB="5812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b="1" kern="100" dirty="0">
                          <a:solidFill>
                            <a:srgbClr val="151617"/>
                          </a:solidFill>
                          <a:latin typeface="Candara Light" pitchFamily="34" charset="0"/>
                        </a:rPr>
                        <a:t>Оптимальное число кластеров</a:t>
                      </a:r>
                      <a:endParaRPr lang="ru-RU" sz="1050" b="1" kern="100" dirty="0">
                        <a:solidFill>
                          <a:srgbClr val="151617"/>
                        </a:solidFill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58126" marR="58126" marT="58126" marB="5812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b="1" kern="100">
                          <a:solidFill>
                            <a:srgbClr val="151617"/>
                          </a:solidFill>
                          <a:latin typeface="Candara Light" pitchFamily="34" charset="0"/>
                        </a:rPr>
                        <a:t>Значение максимального силуэт</a:t>
                      </a:r>
                      <a:endParaRPr lang="ru-RU" sz="1050" b="1" kern="100">
                        <a:solidFill>
                          <a:srgbClr val="151617"/>
                        </a:solidFill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58126" marR="58126" marT="58126" marB="5812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b="1" kern="100" dirty="0">
                          <a:solidFill>
                            <a:srgbClr val="151617"/>
                          </a:solidFill>
                          <a:latin typeface="Candara Light" pitchFamily="34" charset="0"/>
                        </a:rPr>
                        <a:t>Интерпретация</a:t>
                      </a:r>
                      <a:endParaRPr lang="ru-RU" sz="1050" b="1" kern="100" dirty="0">
                        <a:solidFill>
                          <a:srgbClr val="151617"/>
                        </a:solidFill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58126" marR="58126" marT="58126" marB="58126" anchor="ctr"/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2015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627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2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0,490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Элита и  остальные</a:t>
                      </a:r>
                    </a:p>
                  </a:txBody>
                  <a:tcPr marL="58126" marR="58126" marT="66361" marB="66361" anchor="ctr"/>
                </a:tc>
              </a:tr>
              <a:tr h="4064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2018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609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2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0,539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Усиливается разделение</a:t>
                      </a:r>
                    </a:p>
                  </a:txBody>
                  <a:tcPr marL="58126" marR="58126" marT="66361" marB="66361" anchor="ctr"/>
                </a:tc>
              </a:tr>
              <a:tr h="109059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2021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564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2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0,545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Пик поляризации (следствие программы 5-100 и Приоритет-2030)</a:t>
                      </a:r>
                    </a:p>
                  </a:txBody>
                  <a:tcPr marL="58126" marR="58126" marT="66361" marB="66361" anchor="ctr"/>
                </a:tc>
              </a:tr>
              <a:tr h="95375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2023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567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2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0,329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Разделение ослабло, появился локальный максимум при K=7 (0,301)</a:t>
                      </a:r>
                    </a:p>
                  </a:txBody>
                  <a:tcPr marL="58126" marR="58126" marT="66361" marB="66361" anchor="ctr"/>
                </a:tc>
              </a:tr>
              <a:tr h="68007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2025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000" kern="100" dirty="0" smtClean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567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2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0,526 (локальный максимум К=7 (0,206)</a:t>
                      </a:r>
                    </a:p>
                  </a:txBody>
                  <a:tcPr marL="58126" marR="58126" marT="66361" marB="66361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00" kern="100" dirty="0">
                          <a:solidFill>
                            <a:srgbClr val="151617"/>
                          </a:solidFill>
                          <a:latin typeface="Calibri Light" pitchFamily="34" charset="0"/>
                          <a:ea typeface="Calibri Light" pitchFamily="34" charset="0"/>
                          <a:cs typeface="Calibri Light" pitchFamily="34" charset="0"/>
                        </a:rPr>
                        <a:t>Появилось 2 локальных максимума К=7 и К=12</a:t>
                      </a:r>
                    </a:p>
                  </a:txBody>
                  <a:tcPr marL="58126" marR="58126" marT="66361" marB="66361" anchor="ctr"/>
                </a:tc>
              </a:tr>
            </a:tbl>
          </a:graphicData>
        </a:graphic>
      </p:graphicFrame>
      <p:pic>
        <p:nvPicPr>
          <p:cNvPr id="11265" name="Picture 1"/>
          <p:cNvPicPr>
            <a:picLocks noChangeAspect="1" noChangeArrowheads="1"/>
          </p:cNvPicPr>
          <p:nvPr/>
        </p:nvPicPr>
        <p:blipFill>
          <a:blip r:embed="rId3" cstate="print"/>
          <a:srcRect l="2160" t="12698" r="6590" b="20158"/>
          <a:stretch>
            <a:fillRect/>
          </a:stretch>
        </p:blipFill>
        <p:spPr bwMode="auto">
          <a:xfrm>
            <a:off x="5004048" y="627534"/>
            <a:ext cx="3955640" cy="1728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 cstate="print"/>
          <a:srcRect r="11653" b="9776"/>
          <a:stretch>
            <a:fillRect/>
          </a:stretch>
        </p:blipFill>
        <p:spPr bwMode="auto">
          <a:xfrm>
            <a:off x="5652120" y="2355726"/>
            <a:ext cx="2736304" cy="2605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528" y="195486"/>
            <a:ext cx="8207424" cy="891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4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Кластерный анализ: </a:t>
            </a:r>
            <a:r>
              <a:rPr lang="ru-RU" sz="2400" b="1" dirty="0" smtClean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обоснование числа кластеров</a:t>
            </a:r>
            <a:endParaRPr lang="en-US" sz="24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/>
        </p:nvGraphicFramePr>
        <p:xfrm>
          <a:off x="251520" y="771550"/>
          <a:ext cx="5184576" cy="4131597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88032"/>
                <a:gridCol w="2376264"/>
                <a:gridCol w="648072"/>
                <a:gridCol w="1872208"/>
              </a:tblGrid>
              <a:tr h="48549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b="1" kern="100" dirty="0">
                          <a:latin typeface="Candara Light" pitchFamily="34" charset="0"/>
                        </a:rPr>
                        <a:t>№</a:t>
                      </a:r>
                      <a:endParaRPr lang="ru-RU" sz="1050" b="1" kern="100" dirty="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39557" marB="3955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b="1" kern="100">
                          <a:latin typeface="Candara Light" pitchFamily="34" charset="0"/>
                        </a:rPr>
                        <a:t>Характеристика кластера, описание ВУЗа</a:t>
                      </a:r>
                      <a:endParaRPr lang="ru-RU" sz="1050" b="1" kern="10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39557" marB="3955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b="1" kern="100">
                          <a:latin typeface="Candara Light" pitchFamily="34" charset="0"/>
                        </a:rPr>
                        <a:t>Вузов</a:t>
                      </a:r>
                      <a:endParaRPr lang="ru-RU" sz="1050" b="1" kern="10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39557" marB="39557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b="1" kern="100" dirty="0">
                          <a:latin typeface="Candara Light" pitchFamily="34" charset="0"/>
                        </a:rPr>
                        <a:t>Примеры названий ВУЗов, попавших в кластер</a:t>
                      </a:r>
                      <a:endParaRPr lang="ru-RU" sz="1050" b="1" kern="100" dirty="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39557" marB="39557" anchor="ctr"/>
                </a:tc>
              </a:tr>
              <a:tr h="69989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latin typeface="Candara Light" pitchFamily="34" charset="0"/>
                        </a:rPr>
                        <a:t>1</a:t>
                      </a:r>
                      <a:endParaRPr lang="ru-RU" sz="1050" kern="100" dirty="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latin typeface="Candara Light" pitchFamily="34" charset="0"/>
                        </a:rPr>
                        <a:t>Технологические </a:t>
                      </a:r>
                      <a:r>
                        <a:rPr lang="ru-RU" sz="1050" kern="100" dirty="0" err="1">
                          <a:latin typeface="Candara Light" pitchFamily="34" charset="0"/>
                        </a:rPr>
                        <a:t>ВУЗы-элита</a:t>
                      </a:r>
                      <a:r>
                        <a:rPr lang="ru-RU" sz="1050" kern="100" dirty="0">
                          <a:latin typeface="Candara Light" pitchFamily="34" charset="0"/>
                        </a:rPr>
                        <a:t> (ЕГЭ 91, доход/</a:t>
                      </a:r>
                      <a:r>
                        <a:rPr lang="ru-RU" sz="1050" kern="100" dirty="0" err="1">
                          <a:latin typeface="Candara Light" pitchFamily="34" charset="0"/>
                        </a:rPr>
                        <a:t>студ</a:t>
                      </a:r>
                      <a:r>
                        <a:rPr lang="ru-RU" sz="1050" kern="100" dirty="0">
                          <a:latin typeface="Candara Light" pitchFamily="34" charset="0"/>
                        </a:rPr>
                        <a:t> 3 834 тыс. ₽, НИОКР/НПР 1 505 тыс. ₽)</a:t>
                      </a:r>
                      <a:endParaRPr lang="ru-RU" sz="1050" kern="100" dirty="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latin typeface="Candara Light" pitchFamily="34" charset="0"/>
                        </a:rPr>
                        <a:t>5</a:t>
                      </a:r>
                      <a:endParaRPr lang="ru-RU" sz="1050" kern="10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latin typeface="Candara Light" pitchFamily="34" charset="0"/>
                        </a:rPr>
                        <a:t>МФТИ, МИФИ, </a:t>
                      </a:r>
                      <a:r>
                        <a:rPr lang="ru-RU" sz="1050" kern="100" dirty="0" err="1">
                          <a:latin typeface="Candara Light" pitchFamily="34" charset="0"/>
                        </a:rPr>
                        <a:t>Иннополис</a:t>
                      </a:r>
                      <a:r>
                        <a:rPr lang="ru-RU" sz="1050" kern="100" dirty="0">
                          <a:latin typeface="Candara Light" pitchFamily="34" charset="0"/>
                        </a:rPr>
                        <a:t>, </a:t>
                      </a:r>
                      <a:r>
                        <a:rPr lang="ru-RU" sz="1050" kern="100" dirty="0" err="1">
                          <a:latin typeface="Candara Light" pitchFamily="34" charset="0"/>
                        </a:rPr>
                        <a:t>МИСиС</a:t>
                      </a:r>
                      <a:endParaRPr lang="ru-RU" sz="1050" kern="100" dirty="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</a:tr>
              <a:tr h="49670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latin typeface="Candara Light" pitchFamily="34" charset="0"/>
                        </a:rPr>
                        <a:t>2</a:t>
                      </a:r>
                      <a:endParaRPr lang="ru-RU" sz="1050" kern="10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latin typeface="Candara Light" pitchFamily="34" charset="0"/>
                        </a:rPr>
                        <a:t>Социально-экономическая элита (ЕГЭ 88, </a:t>
                      </a:r>
                      <a:r>
                        <a:rPr lang="ru-RU" sz="1050" kern="100" dirty="0" err="1">
                          <a:latin typeface="Candara Light" pitchFamily="34" charset="0"/>
                        </a:rPr>
                        <a:t>олимпиадники</a:t>
                      </a:r>
                      <a:r>
                        <a:rPr lang="ru-RU" sz="1050" kern="100" dirty="0">
                          <a:latin typeface="Candara Light" pitchFamily="34" charset="0"/>
                        </a:rPr>
                        <a:t> 349)</a:t>
                      </a:r>
                      <a:endParaRPr lang="ru-RU" sz="1050" kern="100" dirty="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latin typeface="Candara Light" pitchFamily="34" charset="0"/>
                        </a:rPr>
                        <a:t>6</a:t>
                      </a:r>
                      <a:endParaRPr lang="ru-RU" sz="1050" kern="10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latin typeface="Candara Light" pitchFamily="34" charset="0"/>
                        </a:rPr>
                        <a:t>ВШЭ, СПбГУ, Финансовый </a:t>
                      </a:r>
                      <a:r>
                        <a:rPr lang="ru-RU" sz="1050" kern="100" dirty="0" smtClean="0">
                          <a:latin typeface="Candara Light" pitchFamily="34" charset="0"/>
                        </a:rPr>
                        <a:t>университет, МГИМО</a:t>
                      </a:r>
                      <a:endParaRPr lang="ru-RU" sz="1050" kern="100" dirty="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</a:tr>
              <a:tr h="49670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latin typeface="Candara Light" pitchFamily="34" charset="0"/>
                        </a:rPr>
                        <a:t>3</a:t>
                      </a:r>
                      <a:endParaRPr lang="ru-RU" sz="1050" kern="10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latin typeface="Candara Light" pitchFamily="34" charset="0"/>
                        </a:rPr>
                        <a:t>Медицинские вузы (ЕГЭ 78, целевой приём 28,6% — рекорд)</a:t>
                      </a:r>
                      <a:endParaRPr lang="ru-RU" sz="1050" kern="100" dirty="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latin typeface="Candara Light" pitchFamily="34" charset="0"/>
                        </a:rPr>
                        <a:t>53</a:t>
                      </a:r>
                      <a:endParaRPr lang="ru-RU" sz="1050" kern="10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 err="1">
                          <a:latin typeface="Candara Light" pitchFamily="34" charset="0"/>
                        </a:rPr>
                        <a:t>Сеченовский</a:t>
                      </a:r>
                      <a:r>
                        <a:rPr lang="ru-RU" sz="1050" kern="100" dirty="0">
                          <a:latin typeface="Candara Light" pitchFamily="34" charset="0"/>
                        </a:rPr>
                        <a:t>, 1-й СПб мед, РНИМУ Пирогова</a:t>
                      </a:r>
                      <a:endParaRPr lang="ru-RU" sz="1050" kern="100" dirty="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</a:tr>
              <a:tr h="496702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latin typeface="Candara Light" pitchFamily="34" charset="0"/>
                        </a:rPr>
                        <a:t>4</a:t>
                      </a:r>
                      <a:endParaRPr lang="ru-RU" sz="1050" kern="10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latin typeface="Candara Light" pitchFamily="34" charset="0"/>
                        </a:rPr>
                        <a:t>Гуманитарно-дипломатические (ЕГЭ 73, доктора наук 20%)</a:t>
                      </a:r>
                      <a:endParaRPr lang="ru-RU" sz="1050" kern="100" dirty="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latin typeface="Candara Light" pitchFamily="34" charset="0"/>
                        </a:rPr>
                        <a:t>74</a:t>
                      </a:r>
                      <a:endParaRPr lang="ru-RU" sz="1050" kern="100" dirty="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latin typeface="Candara Light" pitchFamily="34" charset="0"/>
                        </a:rPr>
                        <a:t>МГИМО, </a:t>
                      </a:r>
                      <a:r>
                        <a:rPr lang="ru-RU" sz="1050" kern="100" dirty="0" err="1">
                          <a:latin typeface="Candara Light" pitchFamily="34" charset="0"/>
                        </a:rPr>
                        <a:t>Дипакадемия</a:t>
                      </a:r>
                      <a:r>
                        <a:rPr lang="ru-RU" sz="1050" kern="100" dirty="0">
                          <a:latin typeface="Candara Light" pitchFamily="34" charset="0"/>
                        </a:rPr>
                        <a:t>, Лингвистический</a:t>
                      </a:r>
                      <a:endParaRPr lang="ru-RU" sz="1050" kern="100" dirty="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</a:tr>
              <a:tr h="59829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latin typeface="Candara Light" pitchFamily="34" charset="0"/>
                        </a:rPr>
                        <a:t>5</a:t>
                      </a:r>
                      <a:endParaRPr lang="ru-RU" sz="1050" kern="10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latin typeface="Candara Light" pitchFamily="34" charset="0"/>
                        </a:rPr>
                        <a:t>Региональные исследовательские (ЕГЭ 70, ЗП/регион 2,5× средней)</a:t>
                      </a:r>
                      <a:endParaRPr lang="ru-RU" sz="1050" kern="10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latin typeface="Candara Light" pitchFamily="34" charset="0"/>
                        </a:rPr>
                        <a:t>45</a:t>
                      </a:r>
                      <a:endParaRPr lang="ru-RU" sz="1050" kern="100" dirty="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 err="1">
                          <a:latin typeface="Candara Light" pitchFamily="34" charset="0"/>
                        </a:rPr>
                        <a:t>Сеченовский</a:t>
                      </a:r>
                      <a:r>
                        <a:rPr lang="ru-RU" sz="1050" kern="100" dirty="0">
                          <a:latin typeface="Candara Light" pitchFamily="34" charset="0"/>
                        </a:rPr>
                        <a:t>, НГУ, региональные федеральные</a:t>
                      </a:r>
                      <a:endParaRPr lang="ru-RU" sz="1050" kern="100" dirty="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</a:tr>
              <a:tr h="39510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latin typeface="Candara Light" pitchFamily="34" charset="0"/>
                        </a:rPr>
                        <a:t>6</a:t>
                      </a:r>
                      <a:endParaRPr lang="ru-RU" sz="1050" kern="10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latin typeface="Candara Light" pitchFamily="34" charset="0"/>
                        </a:rPr>
                        <a:t>Массовый сегмент (ЕГЭ 67)</a:t>
                      </a:r>
                      <a:endParaRPr lang="ru-RU" sz="1050" kern="10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latin typeface="Candara Light" pitchFamily="34" charset="0"/>
                        </a:rPr>
                        <a:t>303</a:t>
                      </a:r>
                      <a:endParaRPr lang="ru-RU" sz="1050" kern="100" dirty="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latin typeface="Candara Light" pitchFamily="34" charset="0"/>
                        </a:rPr>
                        <a:t>Большинство региональных </a:t>
                      </a:r>
                      <a:r>
                        <a:rPr lang="ru-RU" sz="1050" kern="100" dirty="0" smtClean="0">
                          <a:latin typeface="Candara Light" pitchFamily="34" charset="0"/>
                        </a:rPr>
                        <a:t>университетов, ГУУ</a:t>
                      </a:r>
                      <a:endParaRPr lang="ru-RU" sz="1050" kern="100" dirty="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</a:tr>
              <a:tr h="39510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latin typeface="Candara Light" pitchFamily="34" charset="0"/>
                        </a:rPr>
                        <a:t>7</a:t>
                      </a:r>
                      <a:endParaRPr lang="ru-RU" sz="1050" kern="10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>
                          <a:latin typeface="Candara Light" pitchFamily="34" charset="0"/>
                        </a:rPr>
                        <a:t>Вузы без приёма по ЕГЭ (частные, заочные)</a:t>
                      </a:r>
                      <a:endParaRPr lang="ru-RU" sz="1050" kern="10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latin typeface="Candara Light" pitchFamily="34" charset="0"/>
                        </a:rPr>
                        <a:t>78</a:t>
                      </a:r>
                      <a:endParaRPr lang="ru-RU" sz="1050" kern="100" dirty="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1050" kern="100" dirty="0">
                          <a:latin typeface="Candara Light" pitchFamily="34" charset="0"/>
                        </a:rPr>
                        <a:t>Негосударственные, частные институты</a:t>
                      </a:r>
                      <a:endParaRPr lang="ru-RU" sz="1050" kern="100" dirty="0">
                        <a:latin typeface="Candara Light" pitchFamily="34" charset="0"/>
                        <a:ea typeface="Aptos"/>
                        <a:cs typeface="Times New Roman"/>
                      </a:endParaRPr>
                    </a:p>
                  </a:txBody>
                  <a:tcPr marL="39557" marR="39557" marT="45161" marB="45161" anchor="ctr"/>
                </a:tc>
              </a:tr>
            </a:tbl>
          </a:graphicData>
        </a:graphic>
      </p:graphicFrame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3" cstate="print"/>
          <a:srcRect l="1879" t="58324" r="51149" b="158"/>
          <a:stretch>
            <a:fillRect/>
          </a:stretch>
        </p:blipFill>
        <p:spPr bwMode="auto">
          <a:xfrm>
            <a:off x="5652120" y="1347614"/>
            <a:ext cx="3267792" cy="2744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3528" y="195486"/>
            <a:ext cx="8207424" cy="891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00"/>
              </a:lnSpc>
            </a:pPr>
            <a:r>
              <a:rPr lang="en-US" sz="2400" b="1" dirty="0" err="1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Кластерный</a:t>
            </a:r>
            <a:r>
              <a:rPr lang="en-US" sz="24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 </a:t>
            </a:r>
            <a:r>
              <a:rPr lang="en-US" sz="2400" b="1" dirty="0" err="1" smtClean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анализ</a:t>
            </a:r>
            <a:r>
              <a:rPr lang="ru-RU" sz="2400" b="1" dirty="0" smtClean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: результатов</a:t>
            </a:r>
            <a:endParaRPr lang="en-US" sz="2400" dirty="0"/>
          </a:p>
        </p:txBody>
      </p:sp>
      <p:pic>
        <p:nvPicPr>
          <p:cNvPr id="6" name="Рисунок 5"/>
          <p:cNvPicPr/>
          <p:nvPr/>
        </p:nvPicPr>
        <p:blipFill>
          <a:blip r:embed="rId3" cstate="print">
            <a:extLst>
              <a:ext uri="{28A0092B-C50C-407E-A947-70E740481C1C}">
                <a14:useLocalDpi xmlns="" xmlns:wpc="http://schemas.microsoft.com/office/word/2010/wordprocessingCanvas" xmlns:cx="http://schemas.microsoft.com/office/drawing/2014/chartex" xmlns:cx1="http://schemas.microsoft.com/office/drawing/2015/9/8/chartex" xmlns:cx2="http://schemas.microsoft.com/office/drawing/2015/10/21/chartex" xmlns:cx3="http://schemas.microsoft.com/office/drawing/2016/5/9/chartex" xmlns:cx4="http://schemas.microsoft.com/office/drawing/2016/5/10/chartex" xmlns:cx5="http://schemas.microsoft.com/office/drawing/2016/5/11/chartex" xmlns:cx6="http://schemas.microsoft.com/office/drawing/2016/5/12/chartex" xmlns:cx7="http://schemas.microsoft.com/office/drawing/2016/5/13/chartex" xmlns:cx8="http://schemas.microsoft.com/office/drawing/2016/5/14/chartex" xmlns:mc="http://schemas.openxmlformats.org/markup-compatibility/2006" xmlns:aink="http://schemas.microsoft.com/office/drawing/2016/ink" xmlns:am3d="http://schemas.microsoft.com/office/drawing/2017/model3d" xmlns:o="urn:schemas-microsoft-com:office:office" xmlns:oel="http://schemas.microsoft.com/office/2019/extlst" xmlns:m="http://schemas.openxmlformats.org/officeDocument/2006/math" xmlns:v="urn:schemas-microsoft-com:vml" xmlns:wp14="http://schemas.microsoft.com/office/word/2010/wordprocessingDrawing" xmlns:wp="http://schemas.openxmlformats.org/drawingml/2006/wordprocessingDrawing" xmlns:w10="urn:schemas-microsoft-com:office:word" xmlns:w="http://schemas.openxmlformats.org/wordprocessingml/2006/main" xmlns:w14="http://schemas.microsoft.com/office/word/2010/wordml" xmlns:w15="http://schemas.microsoft.com/office/word/2012/wordml" xmlns:w16cex="http://schemas.microsoft.com/office/word/2018/wordml/cex" xmlns:w16cid="http://schemas.microsoft.com/office/word/2016/wordml/cid" xmlns:w16="http://schemas.microsoft.com/office/word/2018/wordml" xmlns:w16du="http://schemas.microsoft.com/office/word/2023/wordml/word16du" xmlns:w16sdtdh="http://schemas.microsoft.com/office/word/2020/wordml/sdtdatahash" xmlns:w16sdtfl="http://schemas.microsoft.com/office/word/2024/wordml/sdtformatlock" xmlns:w16se="http://schemas.microsoft.com/office/word/2015/wordml/symex" xmlns:wpg="http://schemas.microsoft.com/office/word/2010/wordprocessingGroup" xmlns:wpi="http://schemas.microsoft.com/office/word/2010/wordprocessingInk" xmlns:wne="http://schemas.microsoft.com/office/word/2006/wordml" xmlns:wps="http://schemas.microsoft.com/office/word/2010/wordprocessingShape" xmlns:a14="http://schemas.microsoft.com/office/drawing/2010/main" xmlns:pic="http://schemas.openxmlformats.org/drawingml/2006/picture" xmlns:lc="http://schemas.openxmlformats.org/drawingml/2006/lockedCanvas" val="0"/>
              </a:ext>
            </a:extLst>
          </a:blip>
          <a:srcRect/>
          <a:stretch>
            <a:fillRect/>
          </a:stretch>
        </p:blipFill>
        <p:spPr bwMode="auto">
          <a:xfrm>
            <a:off x="1331640" y="699542"/>
            <a:ext cx="5904656" cy="43305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9512" y="267494"/>
            <a:ext cx="6668293" cy="529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063"/>
              </a:lnSpc>
            </a:pP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Стратегия развития: ВУЗ №1 — </a:t>
            </a:r>
            <a:r>
              <a:rPr lang="ru-RU" sz="2800" b="1" dirty="0" smtClean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ГУУ</a:t>
            </a:r>
            <a:endParaRPr lang="en-US" sz="2800" dirty="0"/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699542"/>
            <a:ext cx="3678732" cy="41559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39952" y="2067694"/>
            <a:ext cx="4839453" cy="28006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0" name="TextBox 29"/>
          <p:cNvSpPr txBox="1"/>
          <p:nvPr/>
        </p:nvSpPr>
        <p:spPr>
          <a:xfrm>
            <a:off x="4139952" y="627534"/>
            <a:ext cx="46805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smtClean="0">
                <a:solidFill>
                  <a:srgbClr val="FFDBCD"/>
                </a:solidFill>
                <a:latin typeface="Candara Light" pitchFamily="34" charset="0"/>
                <a:ea typeface="Brygada 1918 Bold"/>
              </a:rPr>
              <a:t>Можно улучшить:</a:t>
            </a:r>
          </a:p>
          <a:p>
            <a:pPr marL="342900" indent="-342900">
              <a:buAutoNum type="arabicPeriod"/>
            </a:pPr>
            <a:r>
              <a:rPr lang="ru-RU" sz="1600" dirty="0" smtClean="0">
                <a:solidFill>
                  <a:schemeClr val="bg1"/>
                </a:solidFill>
                <a:latin typeface="Candara Light" pitchFamily="34" charset="0"/>
                <a:ea typeface="Brygada 1918 Bold"/>
              </a:rPr>
              <a:t>Олимпиадный прием</a:t>
            </a:r>
          </a:p>
          <a:p>
            <a:pPr marL="342900" indent="-342900">
              <a:buAutoNum type="arabicPeriod"/>
            </a:pPr>
            <a:r>
              <a:rPr lang="ru-RU" sz="1600" dirty="0" smtClean="0">
                <a:solidFill>
                  <a:schemeClr val="bg1"/>
                </a:solidFill>
                <a:latin typeface="Candara Light" pitchFamily="34" charset="0"/>
                <a:ea typeface="Brygada 1918 Bold"/>
              </a:rPr>
              <a:t>Увеличить выпуск англоязычных статей</a:t>
            </a:r>
          </a:p>
          <a:p>
            <a:pPr marL="342900" indent="-342900">
              <a:buAutoNum type="arabicPeriod"/>
            </a:pPr>
            <a:r>
              <a:rPr lang="ru-RU" sz="1600" dirty="0" smtClean="0">
                <a:solidFill>
                  <a:schemeClr val="bg1"/>
                </a:solidFill>
                <a:latin typeface="Candara Light" pitchFamily="34" charset="0"/>
                <a:ea typeface="Brygada 1918 Bold"/>
              </a:rPr>
              <a:t>Запустить «президентские» программы управленческого резерва</a:t>
            </a:r>
            <a:endParaRPr lang="ru-RU" sz="1600" dirty="0">
              <a:solidFill>
                <a:schemeClr val="bg1"/>
              </a:solidFill>
              <a:latin typeface="Candara Light" pitchFamily="34" charset="0"/>
              <a:ea typeface="Brygada 1918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9512" y="123478"/>
            <a:ext cx="8034486" cy="627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69"/>
              </a:lnSpc>
            </a:pPr>
            <a:r>
              <a:rPr lang="en-US" sz="2800" b="1" dirty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Стратегия развития: ВУЗ №2 — </a:t>
            </a:r>
            <a:r>
              <a:rPr lang="ru-RU" sz="2800" b="1" dirty="0" smtClean="0">
                <a:solidFill>
                  <a:srgbClr val="FFB393"/>
                </a:solidFill>
                <a:latin typeface="Brygada 1918 Bold" pitchFamily="34" charset="0"/>
                <a:ea typeface="Brygada 1918 Bold" pitchFamily="34" charset="-122"/>
                <a:cs typeface="Brygada 1918 Bold" pitchFamily="34" charset="-120"/>
              </a:rPr>
              <a:t>МГИМО</a:t>
            </a:r>
            <a:endParaRPr lang="en-US" sz="2800" dirty="0"/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39952" y="1943225"/>
            <a:ext cx="4824536" cy="29980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555526"/>
            <a:ext cx="3725966" cy="43924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6" name="TextBox 25"/>
          <p:cNvSpPr txBox="1"/>
          <p:nvPr/>
        </p:nvSpPr>
        <p:spPr>
          <a:xfrm>
            <a:off x="4139952" y="555526"/>
            <a:ext cx="46805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smtClean="0">
                <a:solidFill>
                  <a:srgbClr val="FFDBCD"/>
                </a:solidFill>
                <a:latin typeface="Candara Light" pitchFamily="34" charset="0"/>
                <a:ea typeface="Brygada 1918 Bold"/>
              </a:rPr>
              <a:t>Можно улучшить:</a:t>
            </a:r>
          </a:p>
          <a:p>
            <a:pPr marL="342900" indent="-342900">
              <a:buAutoNum type="arabicPeriod"/>
            </a:pPr>
            <a:r>
              <a:rPr lang="ru-RU" sz="1600" dirty="0" smtClean="0">
                <a:solidFill>
                  <a:schemeClr val="bg1"/>
                </a:solidFill>
                <a:latin typeface="Candara Light" pitchFamily="34" charset="0"/>
                <a:ea typeface="Brygada 1918 Bold"/>
              </a:rPr>
              <a:t>Развитие олимпиад </a:t>
            </a:r>
          </a:p>
          <a:p>
            <a:pPr marL="342900" indent="-342900">
              <a:buAutoNum type="arabicPeriod"/>
            </a:pPr>
            <a:r>
              <a:rPr lang="ru-RU" sz="1600" dirty="0" smtClean="0">
                <a:solidFill>
                  <a:schemeClr val="bg1"/>
                </a:solidFill>
                <a:latin typeface="Candara Light" pitchFamily="34" charset="0"/>
                <a:ea typeface="Brygada 1918 Bold"/>
              </a:rPr>
              <a:t>Публикации в белом списке</a:t>
            </a:r>
          </a:p>
          <a:p>
            <a:pPr marL="342900" indent="-342900">
              <a:buAutoNum type="arabicPeriod"/>
            </a:pPr>
            <a:r>
              <a:rPr lang="ru-RU" sz="1600" dirty="0" smtClean="0">
                <a:solidFill>
                  <a:schemeClr val="bg1"/>
                </a:solidFill>
                <a:latin typeface="Candara Light" pitchFamily="34" charset="0"/>
                <a:ea typeface="Brygada 1918 Bold"/>
              </a:rPr>
              <a:t>Расширение прикладных программ</a:t>
            </a:r>
            <a:endParaRPr lang="ru-RU" sz="1600" dirty="0">
              <a:solidFill>
                <a:schemeClr val="bg1"/>
              </a:solidFill>
              <a:latin typeface="Candara Light" pitchFamily="34" charset="0"/>
              <a:ea typeface="Brygada 1918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7"/>
          <p:cNvSpPr/>
          <p:nvPr/>
        </p:nvSpPr>
        <p:spPr>
          <a:xfrm>
            <a:off x="483264" y="2489691"/>
            <a:ext cx="2090194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56"/>
              </a:lnSpc>
            </a:pPr>
            <a:r>
              <a:rPr lang="ru-RU" sz="1400" dirty="0" smtClean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Куратор</a:t>
            </a:r>
          </a:p>
          <a:p>
            <a:pPr algn="ctr">
              <a:lnSpc>
                <a:spcPts val="1156"/>
              </a:lnSpc>
            </a:pPr>
            <a:r>
              <a:rPr lang="ru-RU" sz="1400" dirty="0" smtClean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Крамаренко Инна Владимировна</a:t>
            </a:r>
            <a:endParaRPr lang="en-US" sz="1400" dirty="0">
              <a:solidFill>
                <a:srgbClr val="F4CAB8"/>
              </a:solidFill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</p:txBody>
      </p:sp>
      <p:sp>
        <p:nvSpPr>
          <p:cNvPr id="5" name="Text 7"/>
          <p:cNvSpPr/>
          <p:nvPr/>
        </p:nvSpPr>
        <p:spPr>
          <a:xfrm>
            <a:off x="3884201" y="2489691"/>
            <a:ext cx="150733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56"/>
              </a:lnSpc>
            </a:pPr>
            <a:r>
              <a:rPr lang="ru-RU" sz="1400" dirty="0" smtClean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Лидер</a:t>
            </a:r>
          </a:p>
          <a:p>
            <a:pPr algn="ctr">
              <a:lnSpc>
                <a:spcPts val="1156"/>
              </a:lnSpc>
            </a:pPr>
            <a:r>
              <a:rPr lang="ru-RU" sz="1400" dirty="0" smtClean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Осадина Дарья Дмитриевна</a:t>
            </a:r>
            <a:endParaRPr lang="en-US" sz="1400" dirty="0">
              <a:solidFill>
                <a:srgbClr val="F4CAB8"/>
              </a:solidFill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</p:txBody>
      </p:sp>
      <p:sp>
        <p:nvSpPr>
          <p:cNvPr id="7" name="Text 7"/>
          <p:cNvSpPr/>
          <p:nvPr/>
        </p:nvSpPr>
        <p:spPr>
          <a:xfrm>
            <a:off x="6879884" y="2489691"/>
            <a:ext cx="150733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56"/>
              </a:lnSpc>
            </a:pPr>
            <a:r>
              <a:rPr lang="ru-RU" sz="1400" dirty="0" err="1" smtClean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Лязер</a:t>
            </a:r>
            <a:r>
              <a:rPr lang="ru-RU" sz="1400" dirty="0" smtClean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 </a:t>
            </a:r>
            <a:r>
              <a:rPr lang="ru-RU" sz="1400" dirty="0" smtClean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Григорий Владимирович</a:t>
            </a:r>
            <a:endParaRPr lang="en-US" sz="1400" dirty="0">
              <a:solidFill>
                <a:srgbClr val="F4CAB8"/>
              </a:solidFill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10700" y="4626357"/>
            <a:ext cx="150733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56"/>
              </a:lnSpc>
            </a:pPr>
            <a:r>
              <a:rPr lang="ru-RU" sz="1400" dirty="0" smtClean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Левальд </a:t>
            </a:r>
            <a:r>
              <a:rPr lang="ru-RU" sz="1400" dirty="0" smtClean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Егор Борисович</a:t>
            </a:r>
            <a:endParaRPr lang="en-US" sz="1400" dirty="0">
              <a:solidFill>
                <a:srgbClr val="F4CAB8"/>
              </a:solidFill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5508104" y="4659982"/>
            <a:ext cx="1507331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56"/>
              </a:lnSpc>
            </a:pPr>
            <a:r>
              <a:rPr lang="ru-RU" sz="1400" dirty="0" smtClean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Гайфуллина </a:t>
            </a:r>
            <a:r>
              <a:rPr lang="ru-RU" sz="1400" dirty="0" smtClean="0">
                <a:solidFill>
                  <a:srgbClr val="F4CAB8"/>
                </a:solidFill>
                <a:latin typeface="Calibri Light" pitchFamily="34" charset="0"/>
                <a:ea typeface="Calibri Light" pitchFamily="34" charset="0"/>
                <a:cs typeface="Calibri Light" pitchFamily="34" charset="0"/>
              </a:rPr>
              <a:t>Рената Рустемовна</a:t>
            </a:r>
            <a:endParaRPr lang="en-US" sz="1400" dirty="0">
              <a:solidFill>
                <a:srgbClr val="F4CAB8"/>
              </a:solidFill>
              <a:latin typeface="Calibri Light" pitchFamily="34" charset="0"/>
              <a:ea typeface="Calibri Light" pitchFamily="34" charset="0"/>
              <a:cs typeface="Calibri Light" pitchFamily="34" charset="0"/>
            </a:endParaRPr>
          </a:p>
        </p:txBody>
      </p:sp>
      <p:sp>
        <p:nvSpPr>
          <p:cNvPr id="14" name="Text 0"/>
          <p:cNvSpPr/>
          <p:nvPr/>
        </p:nvSpPr>
        <p:spPr>
          <a:xfrm>
            <a:off x="483266" y="316259"/>
            <a:ext cx="4621039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250"/>
              </a:lnSpc>
            </a:pPr>
            <a:r>
              <a:rPr lang="ru-RU" sz="2600" b="1" dirty="0" smtClean="0">
                <a:solidFill>
                  <a:srgbClr val="F4CAB8"/>
                </a:solidFill>
                <a:latin typeface="Brygada 1918 Bold"/>
              </a:rPr>
              <a:t>Участники команды </a:t>
            </a:r>
            <a:r>
              <a:rPr lang="en-US" sz="2600" b="1" dirty="0" err="1" smtClean="0">
                <a:solidFill>
                  <a:srgbClr val="F4CAB8"/>
                </a:solidFill>
                <a:latin typeface="Brygada 1918 Bold"/>
              </a:rPr>
              <a:t>DataGUUru</a:t>
            </a:r>
            <a:endParaRPr lang="en-US" sz="2600" b="1" dirty="0">
              <a:solidFill>
                <a:srgbClr val="F4CAB8"/>
              </a:solidFill>
              <a:latin typeface="Brygada 1918 Bold"/>
            </a:endParaRPr>
          </a:p>
        </p:txBody>
      </p:sp>
      <p:sp>
        <p:nvSpPr>
          <p:cNvPr id="15" name="Shape 3"/>
          <p:cNvSpPr/>
          <p:nvPr/>
        </p:nvSpPr>
        <p:spPr>
          <a:xfrm>
            <a:off x="483264" y="852367"/>
            <a:ext cx="2090194" cy="1545738"/>
          </a:xfrm>
          <a:prstGeom prst="roundRect">
            <a:avLst>
              <a:gd name="adj" fmla="val 11483"/>
            </a:avLst>
          </a:prstGeom>
          <a:solidFill>
            <a:srgbClr val="5C2438"/>
          </a:solidFill>
          <a:ln w="22860">
            <a:solidFill>
              <a:srgbClr val="662E42"/>
            </a:solidFill>
            <a:prstDash val="solid"/>
          </a:ln>
        </p:spPr>
      </p:sp>
      <p:sp>
        <p:nvSpPr>
          <p:cNvPr id="16" name="Shape 3"/>
          <p:cNvSpPr/>
          <p:nvPr/>
        </p:nvSpPr>
        <p:spPr>
          <a:xfrm>
            <a:off x="3597229" y="852367"/>
            <a:ext cx="2090194" cy="1545738"/>
          </a:xfrm>
          <a:prstGeom prst="roundRect">
            <a:avLst>
              <a:gd name="adj" fmla="val 11483"/>
            </a:avLst>
          </a:prstGeom>
          <a:solidFill>
            <a:srgbClr val="5C2438"/>
          </a:solidFill>
          <a:ln w="22860">
            <a:solidFill>
              <a:srgbClr val="662E42"/>
            </a:solidFill>
            <a:prstDash val="solid"/>
          </a:ln>
        </p:spPr>
      </p:sp>
      <p:sp>
        <p:nvSpPr>
          <p:cNvPr id="17" name="Shape 3"/>
          <p:cNvSpPr/>
          <p:nvPr/>
        </p:nvSpPr>
        <p:spPr>
          <a:xfrm>
            <a:off x="6592912" y="852367"/>
            <a:ext cx="2090194" cy="1545738"/>
          </a:xfrm>
          <a:prstGeom prst="roundRect">
            <a:avLst>
              <a:gd name="adj" fmla="val 11483"/>
            </a:avLst>
          </a:prstGeom>
          <a:solidFill>
            <a:srgbClr val="5C2438"/>
          </a:solidFill>
          <a:ln w="22860">
            <a:solidFill>
              <a:srgbClr val="662E42"/>
            </a:solidFill>
            <a:prstDash val="solid"/>
          </a:ln>
        </p:spPr>
      </p:sp>
      <p:sp>
        <p:nvSpPr>
          <p:cNvPr id="18" name="Shape 3"/>
          <p:cNvSpPr/>
          <p:nvPr/>
        </p:nvSpPr>
        <p:spPr>
          <a:xfrm>
            <a:off x="2123728" y="2931790"/>
            <a:ext cx="2090194" cy="1545738"/>
          </a:xfrm>
          <a:prstGeom prst="roundRect">
            <a:avLst>
              <a:gd name="adj" fmla="val 11483"/>
            </a:avLst>
          </a:prstGeom>
          <a:solidFill>
            <a:srgbClr val="5C2438"/>
          </a:solidFill>
          <a:ln w="22860">
            <a:solidFill>
              <a:srgbClr val="662E42"/>
            </a:solidFill>
            <a:prstDash val="solid"/>
          </a:ln>
        </p:spPr>
      </p:sp>
      <p:sp>
        <p:nvSpPr>
          <p:cNvPr id="20" name="Shape 3"/>
          <p:cNvSpPr/>
          <p:nvPr/>
        </p:nvSpPr>
        <p:spPr>
          <a:xfrm>
            <a:off x="5220072" y="2931790"/>
            <a:ext cx="2090194" cy="1545738"/>
          </a:xfrm>
          <a:prstGeom prst="roundRect">
            <a:avLst>
              <a:gd name="adj" fmla="val 11483"/>
            </a:avLst>
          </a:prstGeom>
          <a:solidFill>
            <a:srgbClr val="5C2438"/>
          </a:solidFill>
          <a:ln w="22860">
            <a:solidFill>
              <a:srgbClr val="662E42"/>
            </a:solidFill>
            <a:prstDash val="solid"/>
          </a:ln>
        </p:spPr>
      </p:sp>
      <p:pic>
        <p:nvPicPr>
          <p:cNvPr id="21" name="Рисунок 20" descr="6iHdE7OAwLVBdcNxDUidh1nAsdl9JvB81bFZ88VMRSK8xZfiJEDsnBtEjzvkErpt30mN0H-Xe_0Pewmel38ozH8Q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80112" y="3003798"/>
            <a:ext cx="1440160" cy="1440160"/>
          </a:xfrm>
          <a:prstGeom prst="rect">
            <a:avLst/>
          </a:prstGeom>
        </p:spPr>
      </p:pic>
      <p:pic>
        <p:nvPicPr>
          <p:cNvPr id="5121" name="Picture 1"/>
          <p:cNvPicPr>
            <a:picLocks noChangeAspect="1" noChangeArrowheads="1"/>
          </p:cNvPicPr>
          <p:nvPr/>
        </p:nvPicPr>
        <p:blipFill>
          <a:blip r:embed="rId3" cstate="print"/>
          <a:srcRect l="13696" t="12323" r="6866" b="17846"/>
          <a:stretch>
            <a:fillRect/>
          </a:stretch>
        </p:blipFill>
        <p:spPr bwMode="auto">
          <a:xfrm>
            <a:off x="4067944" y="915566"/>
            <a:ext cx="1224136" cy="1435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48264" y="915566"/>
            <a:ext cx="1440160" cy="1440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Рисунок 23" descr="Снимок экрана 2026-04-11 161809.png"/>
          <p:cNvPicPr>
            <a:picLocks noChangeAspect="1"/>
          </p:cNvPicPr>
          <p:nvPr/>
        </p:nvPicPr>
        <p:blipFill>
          <a:blip r:embed="rId5" cstate="print"/>
          <a:srcRect t="394" b="394"/>
          <a:stretch>
            <a:fillRect/>
          </a:stretch>
        </p:blipFill>
        <p:spPr>
          <a:xfrm>
            <a:off x="827584" y="915566"/>
            <a:ext cx="1368152" cy="1384722"/>
          </a:xfrm>
          <a:prstGeom prst="rect">
            <a:avLst/>
          </a:prstGeom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6" cstate="print"/>
          <a:srcRect t="13500"/>
          <a:stretch>
            <a:fillRect/>
          </a:stretch>
        </p:blipFill>
        <p:spPr bwMode="auto">
          <a:xfrm>
            <a:off x="2483768" y="3003798"/>
            <a:ext cx="1327477" cy="13681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Words>901</Words>
  <Application>Microsoft Office PowerPoint</Application>
  <PresentationFormat>Экран (16:9)</PresentationFormat>
  <Paragraphs>214</Paragraphs>
  <Slides>14</Slides>
  <Notes>12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5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Пользователь</dc:creator>
  <cp:lastModifiedBy>Пользователь</cp:lastModifiedBy>
  <cp:revision>22</cp:revision>
  <dcterms:created xsi:type="dcterms:W3CDTF">2026-04-18T04:57:17Z</dcterms:created>
  <dcterms:modified xsi:type="dcterms:W3CDTF">2026-04-18T09:47:38Z</dcterms:modified>
</cp:coreProperties>
</file>